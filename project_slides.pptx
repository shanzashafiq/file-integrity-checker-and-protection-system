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8" r:id="rId1"/>
  </p:sldMasterIdLst>
  <p:notesMasterIdLst>
    <p:notesMasterId r:id="rId15"/>
  </p:notesMasterIdLst>
  <p:sldIdLst>
    <p:sldId id="267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8" r:id="rId14"/>
  </p:sldIdLst>
  <p:sldSz cx="9144000" cy="5143500" type="screen16x9"/>
  <p:notesSz cx="51435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2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303" autoAdjust="0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25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33587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28020" y="1327155"/>
            <a:ext cx="7080026" cy="1371601"/>
          </a:xfrm>
        </p:spPr>
        <p:txBody>
          <a:bodyPr anchor="b">
            <a:normAutofit/>
          </a:bodyPr>
          <a:lstStyle>
            <a:lvl1pPr algn="ctr">
              <a:defRPr sz="405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020" y="2698755"/>
            <a:ext cx="7080026" cy="787400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smtClean="0"/>
              <a:pPr/>
              <a:t>4/19/2026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386930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smtClean="0"/>
              <a:pPr/>
              <a:t>4/19/2026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1688361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551" y="1320801"/>
            <a:ext cx="7192913" cy="1371610"/>
          </a:xfrm>
        </p:spPr>
        <p:txBody>
          <a:bodyPr anchor="b"/>
          <a:lstStyle>
            <a:lvl1pPr algn="ctr">
              <a:defRPr sz="3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1551" y="2692409"/>
            <a:ext cx="7192913" cy="1130291"/>
          </a:xfrm>
        </p:spPr>
        <p:txBody>
          <a:bodyPr anchor="t"/>
          <a:lstStyle>
            <a:lvl1pPr marL="0" indent="0" algn="ctr">
              <a:buNone/>
              <a:defRPr sz="150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smtClean="0"/>
              <a:pPr/>
              <a:t>4/19/2026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4650688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347" y="1299337"/>
            <a:ext cx="3795373" cy="3044063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52169" y="1299337"/>
            <a:ext cx="3798499" cy="3044063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smtClean="0"/>
              <a:pPr/>
              <a:t>4/19/2026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6880903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346" y="1300880"/>
            <a:ext cx="3816804" cy="3111577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3864" y="1300880"/>
            <a:ext cx="3816804" cy="311157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4404" y="1376441"/>
            <a:ext cx="3657258" cy="408663"/>
          </a:xfrm>
        </p:spPr>
        <p:txBody>
          <a:bodyPr anchor="b">
            <a:noAutofit/>
          </a:bodyPr>
          <a:lstStyle>
            <a:lvl1pPr marL="0" indent="0" algn="ctr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54404" y="1785103"/>
            <a:ext cx="3657258" cy="2558297"/>
          </a:xfrm>
        </p:spPr>
        <p:txBody>
          <a:bodyPr anchor="t">
            <a:normAutofit/>
          </a:bodyPr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21225" y="1376441"/>
            <a:ext cx="3671498" cy="408662"/>
          </a:xfrm>
        </p:spPr>
        <p:txBody>
          <a:bodyPr anchor="b">
            <a:noAutofit/>
          </a:bodyPr>
          <a:lstStyle>
            <a:lvl1pPr marL="0" indent="0" algn="ctr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21225" y="1785103"/>
            <a:ext cx="3671498" cy="2558297"/>
          </a:xfrm>
        </p:spPr>
        <p:txBody>
          <a:bodyPr anchor="t">
            <a:normAutofit/>
          </a:bodyPr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smtClean="0"/>
              <a:pPr/>
              <a:t>4/19/2026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419774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smtClean="0"/>
              <a:pPr/>
              <a:t>4/19/2026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1616112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smtClean="0"/>
              <a:pPr/>
              <a:t>4/19/2026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4343572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7" y="457200"/>
            <a:ext cx="2780167" cy="1366439"/>
          </a:xfrm>
        </p:spPr>
        <p:txBody>
          <a:bodyPr anchor="b">
            <a:normAutofit/>
          </a:bodyPr>
          <a:lstStyle>
            <a:lvl1pPr algn="ctr">
              <a:defRPr sz="1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41725" y="457200"/>
            <a:ext cx="4808943" cy="38862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7" y="1823639"/>
            <a:ext cx="2780167" cy="2519761"/>
          </a:xfrm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smtClean="0"/>
              <a:pPr/>
              <a:t>4/19/2026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3012763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70249" y="457200"/>
            <a:ext cx="2688125" cy="390362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7" y="457442"/>
            <a:ext cx="4451212" cy="1372004"/>
          </a:xfrm>
        </p:spPr>
        <p:txBody>
          <a:bodyPr anchor="b">
            <a:no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81914" y="572776"/>
            <a:ext cx="2456813" cy="3684617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7" y="1829445"/>
            <a:ext cx="4451212" cy="2532101"/>
          </a:xfrm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smtClean="0"/>
              <a:pPr/>
              <a:t>4/19/2026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2015765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413" y="410855"/>
            <a:ext cx="7606349" cy="286260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54" y="3423941"/>
            <a:ext cx="7766495" cy="407604"/>
          </a:xfrm>
        </p:spPr>
        <p:txBody>
          <a:bodyPr anchor="b">
            <a:normAutofit/>
          </a:bodyPr>
          <a:lstStyle>
            <a:lvl1pPr algn="ctr">
              <a:defRPr sz="21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77012" y="521257"/>
            <a:ext cx="7384010" cy="2644253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500"/>
            </a:lvl1pPr>
            <a:lvl2pPr marL="342900" indent="0">
              <a:buNone/>
              <a:defRPr sz="1500"/>
            </a:lvl2pPr>
            <a:lvl3pPr marL="685800" indent="0">
              <a:buNone/>
              <a:defRPr sz="15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3831546"/>
            <a:ext cx="7765322" cy="511854"/>
          </a:xfrm>
        </p:spPr>
        <p:txBody>
          <a:bodyPr anchor="t"/>
          <a:lstStyle>
            <a:lvl1pPr marL="0" indent="0" algn="ctr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9764065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456328"/>
            <a:ext cx="7765322" cy="2650758"/>
          </a:xfrm>
        </p:spPr>
        <p:txBody>
          <a:bodyPr anchor="ctr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3221385"/>
            <a:ext cx="7765322" cy="1126370"/>
          </a:xfrm>
        </p:spPr>
        <p:txBody>
          <a:bodyPr anchor="ctr"/>
          <a:lstStyle>
            <a:lvl1pPr marL="0" indent="0" algn="ctr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5714753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457200"/>
            <a:ext cx="6977064" cy="2244678"/>
          </a:xfrm>
        </p:spPr>
        <p:txBody>
          <a:bodyPr anchor="ctr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2707524"/>
            <a:ext cx="6564224" cy="399562"/>
          </a:xfrm>
        </p:spPr>
        <p:txBody>
          <a:bodyPr anchor="t">
            <a:normAutofit/>
          </a:bodyPr>
          <a:lstStyle>
            <a:lvl1pPr marL="0" indent="0" algn="r">
              <a:buNone/>
              <a:defRPr sz="105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3228265"/>
            <a:ext cx="7765322" cy="1117122"/>
          </a:xfrm>
        </p:spPr>
        <p:txBody>
          <a:bodyPr anchor="ctr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742950" y="663597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6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78537" y="2196194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6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886019859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1595207"/>
            <a:ext cx="7765322" cy="1883876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9" y="3487917"/>
            <a:ext cx="7764149" cy="855483"/>
          </a:xfrm>
        </p:spPr>
        <p:txBody>
          <a:bodyPr anchor="t"/>
          <a:lstStyle>
            <a:lvl1pPr marL="0" indent="0" algn="ctr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602240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346" y="457200"/>
            <a:ext cx="7765322" cy="7278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346" y="1414462"/>
            <a:ext cx="2475738" cy="432197"/>
          </a:xfrm>
        </p:spPr>
        <p:txBody>
          <a:bodyPr anchor="b">
            <a:noAutofit/>
          </a:bodyPr>
          <a:lstStyle>
            <a:lvl1pPr marL="0" indent="0" algn="ctr"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346" y="1928812"/>
            <a:ext cx="2475738" cy="2414588"/>
          </a:xfrm>
        </p:spPr>
        <p:txBody>
          <a:bodyPr anchor="t">
            <a:normAutofit/>
          </a:bodyPr>
          <a:lstStyle>
            <a:lvl1pPr marL="0" indent="0" algn="ctr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5033" y="1414462"/>
            <a:ext cx="2475738" cy="432197"/>
          </a:xfrm>
        </p:spPr>
        <p:txBody>
          <a:bodyPr anchor="b">
            <a:noAutofit/>
          </a:bodyPr>
          <a:lstStyle>
            <a:lvl1pPr marL="0" indent="0" algn="ctr"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31076" y="1928812"/>
            <a:ext cx="2475738" cy="2414588"/>
          </a:xfrm>
        </p:spPr>
        <p:txBody>
          <a:bodyPr anchor="t">
            <a:normAutofit/>
          </a:bodyPr>
          <a:lstStyle>
            <a:lvl1pPr marL="0" indent="0" algn="ctr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4929" y="1414462"/>
            <a:ext cx="2475738" cy="432197"/>
          </a:xfrm>
        </p:spPr>
        <p:txBody>
          <a:bodyPr anchor="b">
            <a:noAutofit/>
          </a:bodyPr>
          <a:lstStyle>
            <a:lvl1pPr marL="0" indent="0" algn="ctr"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74929" y="1928812"/>
            <a:ext cx="2475738" cy="2414588"/>
          </a:xfrm>
        </p:spPr>
        <p:txBody>
          <a:bodyPr anchor="t">
            <a:normAutofit/>
          </a:bodyPr>
          <a:lstStyle>
            <a:lvl1pPr marL="0" indent="0" algn="ctr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4/19/2026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1302878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472" y="1363661"/>
            <a:ext cx="2504979" cy="1385888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2850" y="1363661"/>
            <a:ext cx="2504979" cy="1385888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2038" y="1363661"/>
            <a:ext cx="2504979" cy="1385888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346" y="457200"/>
            <a:ext cx="7765322" cy="7278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5346" y="2928079"/>
            <a:ext cx="2475738" cy="432197"/>
          </a:xfrm>
        </p:spPr>
        <p:txBody>
          <a:bodyPr anchor="b">
            <a:noAutofit/>
          </a:bodyPr>
          <a:lstStyle>
            <a:lvl1pPr marL="0" indent="0" algn="ctr">
              <a:buNone/>
              <a:defRPr sz="15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763577" y="1454188"/>
            <a:ext cx="2319276" cy="1202216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5346" y="3360276"/>
            <a:ext cx="2475738" cy="983125"/>
          </a:xfrm>
        </p:spPr>
        <p:txBody>
          <a:bodyPr anchor="t">
            <a:normAutofit/>
          </a:bodyPr>
          <a:lstStyle>
            <a:lvl1pPr marL="0" indent="0" algn="ctr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2091" y="2928079"/>
            <a:ext cx="2475738" cy="432197"/>
          </a:xfrm>
        </p:spPr>
        <p:txBody>
          <a:bodyPr anchor="b">
            <a:noAutofit/>
          </a:bodyPr>
          <a:lstStyle>
            <a:lvl1pPr marL="0" indent="0" algn="ctr">
              <a:buNone/>
              <a:defRPr sz="15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409307" y="1454321"/>
            <a:ext cx="2319276" cy="1206123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31076" y="3360276"/>
            <a:ext cx="2475738" cy="983125"/>
          </a:xfrm>
        </p:spPr>
        <p:txBody>
          <a:bodyPr anchor="t">
            <a:normAutofit/>
          </a:bodyPr>
          <a:lstStyle>
            <a:lvl1pPr marL="0" indent="0" algn="ctr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5023" y="2928079"/>
            <a:ext cx="2475738" cy="432197"/>
          </a:xfrm>
        </p:spPr>
        <p:txBody>
          <a:bodyPr anchor="b">
            <a:noAutofit/>
          </a:bodyPr>
          <a:lstStyle>
            <a:lvl1pPr marL="0" indent="0" algn="ctr">
              <a:buNone/>
              <a:defRPr sz="15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056774" y="1450824"/>
            <a:ext cx="2319276" cy="1205471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74929" y="3360274"/>
            <a:ext cx="2475738" cy="983126"/>
          </a:xfrm>
        </p:spPr>
        <p:txBody>
          <a:bodyPr anchor="t">
            <a:normAutofit/>
          </a:bodyPr>
          <a:lstStyle>
            <a:lvl1pPr marL="0" indent="0" algn="ctr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4/19/2026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7801617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smtClean="0"/>
              <a:pPr/>
              <a:t>4/19/2026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0685959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37302" y="457200"/>
            <a:ext cx="1713365" cy="38862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347" y="457200"/>
            <a:ext cx="5937654" cy="388620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smtClean="0"/>
              <a:pPr/>
              <a:t>4/19/2026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6144187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684159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346" y="457200"/>
            <a:ext cx="7765322" cy="727838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346" y="1299337"/>
            <a:ext cx="7765322" cy="3044063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59052" y="4412457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8E36636D-D922-432D-A958-524484B5923D}" type="datetimeFigureOut">
              <a:rPr lang="en-US" smtClean="0"/>
              <a:pPr/>
              <a:t>4/19/2026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347" y="4412457"/>
            <a:ext cx="500464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85509" y="4412457"/>
            <a:ext cx="56515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DF28FB93-0A08-4E7D-8E63-9EFA29F1E09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391999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92" r:id="rId4"/>
    <p:sldLayoutId id="2147483693" r:id="rId5"/>
    <p:sldLayoutId id="2147483694" r:id="rId6"/>
    <p:sldLayoutId id="2147483695" r:id="rId7"/>
    <p:sldLayoutId id="2147483696" r:id="rId8"/>
    <p:sldLayoutId id="2147483697" r:id="rId9"/>
    <p:sldLayoutId id="2147483698" r:id="rId10"/>
    <p:sldLayoutId id="2147483699" r:id="rId11"/>
    <p:sldLayoutId id="2147483700" r:id="rId12"/>
    <p:sldLayoutId id="2147483701" r:id="rId13"/>
    <p:sldLayoutId id="2147483702" r:id="rId14"/>
    <p:sldLayoutId id="2147483703" r:id="rId15"/>
    <p:sldLayoutId id="2147483704" r:id="rId16"/>
    <p:sldLayoutId id="2147483705" r:id="rId17"/>
    <p:sldLayoutId id="2147483706" r:id="rId18"/>
  </p:sldLayoutIdLst>
  <p:hf sldNum="0" hdr="0" ftr="0" dt="0"/>
  <p:txStyles>
    <p:titleStyle>
      <a:lvl1pPr algn="ctr" defTabSz="342900" rtl="0" eaLnBrk="1" latinLnBrk="0" hangingPunct="1">
        <a:spcBef>
          <a:spcPct val="0"/>
        </a:spcBef>
        <a:buNone/>
        <a:defRPr sz="3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57175" indent="-229500" algn="l" defTabSz="342900" rtl="0" eaLnBrk="1" latinLnBrk="0" hangingPunct="1">
        <a:spcBef>
          <a:spcPct val="20000"/>
        </a:spcBef>
        <a:spcAft>
          <a:spcPts val="450"/>
        </a:spcAft>
        <a:buClr>
          <a:schemeClr val="tx2"/>
        </a:buClr>
        <a:buSzPct val="70000"/>
        <a:buFont typeface="Wingdings 2" charset="2"/>
        <a:buChar char=""/>
        <a:defRPr sz="15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540000" indent="-202500" algn="l" defTabSz="342900" rtl="0" eaLnBrk="1" latinLnBrk="0" hangingPunct="1">
        <a:spcBef>
          <a:spcPct val="20000"/>
        </a:spcBef>
        <a:spcAft>
          <a:spcPts val="450"/>
        </a:spcAft>
        <a:buClr>
          <a:schemeClr val="tx2"/>
        </a:buClr>
        <a:buSzPct val="70000"/>
        <a:buFont typeface="Wingdings 2" charset="2"/>
        <a:buChar char=""/>
        <a:defRPr sz="135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769500" indent="-162000" algn="l" defTabSz="342900" rtl="0" eaLnBrk="1" latinLnBrk="0" hangingPunct="1">
        <a:spcBef>
          <a:spcPct val="20000"/>
        </a:spcBef>
        <a:spcAft>
          <a:spcPts val="450"/>
        </a:spcAft>
        <a:buClr>
          <a:schemeClr val="tx2"/>
        </a:buClr>
        <a:buSzPct val="70000"/>
        <a:buFont typeface="Wingdings 2" charset="2"/>
        <a:buChar char=""/>
        <a:defRPr sz="12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039500" indent="-162000" algn="l" defTabSz="342900" rtl="0" eaLnBrk="1" latinLnBrk="0" hangingPunct="1">
        <a:spcBef>
          <a:spcPct val="20000"/>
        </a:spcBef>
        <a:spcAft>
          <a:spcPts val="450"/>
        </a:spcAft>
        <a:buClr>
          <a:schemeClr val="tx2"/>
        </a:buClr>
        <a:buSzPct val="70000"/>
        <a:buFont typeface="Wingdings 2" charset="2"/>
        <a:buChar char=""/>
        <a:defRPr sz="105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255500" indent="-162000" algn="l" defTabSz="342900" rtl="0" eaLnBrk="1" latinLnBrk="0" hangingPunct="1">
        <a:spcBef>
          <a:spcPct val="20000"/>
        </a:spcBef>
        <a:spcAft>
          <a:spcPts val="450"/>
        </a:spcAft>
        <a:buClr>
          <a:schemeClr val="tx2"/>
        </a:buClr>
        <a:buSzPct val="70000"/>
        <a:buFont typeface="Wingdings 2" charset="2"/>
        <a:buChar char=""/>
        <a:defRPr sz="105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15109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tx2"/>
        </a:buClr>
        <a:buSzPct val="70000"/>
        <a:buFont typeface="Wingdings 2" charset="2"/>
        <a:buChar char=""/>
        <a:defRPr sz="105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18013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tx2"/>
        </a:buClr>
        <a:buSzPct val="70000"/>
        <a:buFont typeface="Wingdings 2" charset="2"/>
        <a:buChar char=""/>
        <a:defRPr sz="105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0917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tx2"/>
        </a:buClr>
        <a:buSzPct val="70000"/>
        <a:buFont typeface="Wingdings 2" charset="2"/>
        <a:buChar char=""/>
        <a:defRPr sz="105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23296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tx2"/>
        </a:buClr>
        <a:buSzPct val="70000"/>
        <a:buFont typeface="Wingdings 2" charset="2"/>
        <a:buChar char=""/>
        <a:defRPr sz="105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">
            <a:extLst>
              <a:ext uri="{FF2B5EF4-FFF2-40B4-BE49-F238E27FC236}">
                <a16:creationId xmlns:a16="http://schemas.microsoft.com/office/drawing/2014/main" id="{D58A4E6B-E61D-2DDF-78DC-6FA4F60773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11967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20E3A"/>
          </a:solidFill>
          <a:ln w="12700">
            <a:solidFill>
              <a:srgbClr val="020E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828800" y="457200"/>
            <a:ext cx="5486400" cy="3657600"/>
          </a:xfrm>
          <a:prstGeom prst="ellipse">
            <a:avLst/>
          </a:prstGeom>
          <a:solidFill>
            <a:srgbClr val="0A2870">
              <a:alpha val="45000"/>
            </a:srgbClr>
          </a:solidFill>
          <a:ln w="12700">
            <a:solidFill>
              <a:srgbClr val="0A287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010C30"/>
          </a:solidFill>
          <a:ln w="12700">
            <a:solidFill>
              <a:srgbClr val="010C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10C30"/>
          </a:solidFill>
          <a:ln w="12700">
            <a:solidFill>
              <a:srgbClr val="010C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0" y="402336"/>
            <a:ext cx="9144000" cy="36576"/>
          </a:xfrm>
          <a:prstGeom prst="rect">
            <a:avLst/>
          </a:prstGeom>
          <a:solidFill>
            <a:srgbClr val="1A9FD8"/>
          </a:solidFill>
          <a:ln w="12700">
            <a:solidFill>
              <a:srgbClr val="1A9F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0" y="4745736"/>
            <a:ext cx="9144000" cy="27432"/>
          </a:xfrm>
          <a:prstGeom prst="rect">
            <a:avLst/>
          </a:prstGeom>
          <a:solidFill>
            <a:srgbClr val="1A9FD8"/>
          </a:solidFill>
          <a:ln w="12700">
            <a:solidFill>
              <a:srgbClr val="1A9F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4320" y="4754880"/>
            <a:ext cx="4572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C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0" y="4754880"/>
            <a:ext cx="429768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65760" y="50292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 of Contents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365760" y="987552"/>
            <a:ext cx="8412480" cy="22860"/>
          </a:xfrm>
          <a:prstGeom prst="rect">
            <a:avLst/>
          </a:prstGeom>
          <a:solidFill>
            <a:srgbClr val="1A9FD8">
              <a:alpha val="70000"/>
            </a:srgbClr>
          </a:solidFill>
          <a:ln w="12700">
            <a:solidFill>
              <a:srgbClr val="1A9FD8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57200" y="1097280"/>
            <a:ext cx="411480" cy="411480"/>
          </a:xfrm>
          <a:prstGeom prst="rect">
            <a:avLst/>
          </a:prstGeom>
          <a:solidFill>
            <a:srgbClr val="1A9FD8"/>
          </a:solidFill>
          <a:ln w="12700">
            <a:solidFill>
              <a:srgbClr val="1A9F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57200" y="10972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60120" y="114300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1755648"/>
            <a:ext cx="411480" cy="411480"/>
          </a:xfrm>
          <a:prstGeom prst="rect">
            <a:avLst/>
          </a:prstGeom>
          <a:solidFill>
            <a:srgbClr val="1A9FD8"/>
          </a:solidFill>
          <a:ln w="12700">
            <a:solidFill>
              <a:srgbClr val="1A9F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57200" y="175564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60120" y="180136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Solution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2414016"/>
            <a:ext cx="411480" cy="411480"/>
          </a:xfrm>
          <a:prstGeom prst="rect">
            <a:avLst/>
          </a:prstGeom>
          <a:solidFill>
            <a:srgbClr val="1A9FD8"/>
          </a:solidFill>
          <a:ln w="12700">
            <a:solidFill>
              <a:srgbClr val="1A9F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57200" y="241401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60120" y="2459736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Hashing?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57200" y="3072384"/>
            <a:ext cx="411480" cy="411480"/>
          </a:xfrm>
          <a:prstGeom prst="rect">
            <a:avLst/>
          </a:prstGeom>
          <a:solidFill>
            <a:srgbClr val="1A9FD8"/>
          </a:solidFill>
          <a:ln w="12700">
            <a:solidFill>
              <a:srgbClr val="1A9F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57200" y="307238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60120" y="3118104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SHA-256 Algorithm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57200" y="3730752"/>
            <a:ext cx="411480" cy="411480"/>
          </a:xfrm>
          <a:prstGeom prst="rect">
            <a:avLst/>
          </a:prstGeom>
          <a:solidFill>
            <a:srgbClr val="1A9FD8"/>
          </a:solidFill>
          <a:ln w="12700">
            <a:solidFill>
              <a:srgbClr val="1A9F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57200" y="37307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60120" y="377647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Features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754880" y="1097280"/>
            <a:ext cx="411480" cy="411480"/>
          </a:xfrm>
          <a:prstGeom prst="rect">
            <a:avLst/>
          </a:prstGeom>
          <a:solidFill>
            <a:srgbClr val="1A5FAD"/>
          </a:solidFill>
          <a:ln w="12700">
            <a:solidFill>
              <a:srgbClr val="1A5F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754880" y="10972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257800" y="114300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 — Flow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754880" y="1755648"/>
            <a:ext cx="411480" cy="411480"/>
          </a:xfrm>
          <a:prstGeom prst="rect">
            <a:avLst/>
          </a:prstGeom>
          <a:solidFill>
            <a:srgbClr val="1A5FAD"/>
          </a:solidFill>
          <a:ln w="12700">
            <a:solidFill>
              <a:srgbClr val="1A5F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754880" y="175564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257800" y="1801368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Concepts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4754880" y="2414016"/>
            <a:ext cx="411480" cy="411480"/>
          </a:xfrm>
          <a:prstGeom prst="rect">
            <a:avLst/>
          </a:prstGeom>
          <a:solidFill>
            <a:srgbClr val="1A5FAD"/>
          </a:solidFill>
          <a:ln w="12700">
            <a:solidFill>
              <a:srgbClr val="1A5F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754880" y="241401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257800" y="2459736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Structure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4754880" y="3072384"/>
            <a:ext cx="411480" cy="411480"/>
          </a:xfrm>
          <a:prstGeom prst="rect">
            <a:avLst/>
          </a:prstGeom>
          <a:solidFill>
            <a:srgbClr val="1A5FAD"/>
          </a:solidFill>
          <a:ln w="12700">
            <a:solidFill>
              <a:srgbClr val="1A5F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4754880" y="307238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5257800" y="3118104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&amp; Output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4754880" y="3730752"/>
            <a:ext cx="411480" cy="411480"/>
          </a:xfrm>
          <a:prstGeom prst="rect">
            <a:avLst/>
          </a:prstGeom>
          <a:solidFill>
            <a:srgbClr val="1A5FAD"/>
          </a:solidFill>
          <a:ln w="12700">
            <a:solidFill>
              <a:srgbClr val="1A5F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4754880" y="37307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5257800" y="3776472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51880" y="0"/>
            <a:ext cx="9144000" cy="5143500"/>
          </a:xfrm>
          <a:prstGeom prst="rect">
            <a:avLst/>
          </a:prstGeom>
          <a:solidFill>
            <a:srgbClr val="020E3A"/>
          </a:solidFill>
          <a:ln w="12700">
            <a:solidFill>
              <a:srgbClr val="020E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828800" y="457200"/>
            <a:ext cx="5486400" cy="3657600"/>
          </a:xfrm>
          <a:prstGeom prst="ellipse">
            <a:avLst/>
          </a:prstGeom>
          <a:solidFill>
            <a:srgbClr val="0A2870">
              <a:alpha val="45000"/>
            </a:srgbClr>
          </a:solidFill>
          <a:ln w="12700">
            <a:solidFill>
              <a:srgbClr val="0A287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010C30"/>
          </a:solidFill>
          <a:ln w="12700">
            <a:solidFill>
              <a:srgbClr val="010C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0" y="402336"/>
            <a:ext cx="9144000" cy="36576"/>
          </a:xfrm>
          <a:prstGeom prst="rect">
            <a:avLst/>
          </a:prstGeom>
          <a:solidFill>
            <a:srgbClr val="1A9FD8"/>
          </a:solidFill>
          <a:ln w="12700">
            <a:solidFill>
              <a:srgbClr val="1A9F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0" y="4745736"/>
            <a:ext cx="9144000" cy="27432"/>
          </a:xfrm>
          <a:prstGeom prst="rect">
            <a:avLst/>
          </a:prstGeom>
          <a:solidFill>
            <a:srgbClr val="1A9FD8"/>
          </a:solidFill>
          <a:ln w="12700">
            <a:solidFill>
              <a:srgbClr val="1A9F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4320" y="4754880"/>
            <a:ext cx="4572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0" y="4754880"/>
            <a:ext cx="429768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65760" y="50292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365760" y="987552"/>
            <a:ext cx="8412480" cy="22860"/>
          </a:xfrm>
          <a:prstGeom prst="rect">
            <a:avLst/>
          </a:prstGeom>
          <a:solidFill>
            <a:srgbClr val="1A9FD8">
              <a:alpha val="70000"/>
            </a:srgbClr>
          </a:solidFill>
          <a:ln w="12700">
            <a:solidFill>
              <a:srgbClr val="1A9FD8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57200" y="1188720"/>
            <a:ext cx="2011680" cy="2011680"/>
          </a:xfrm>
          <a:prstGeom prst="ellipse">
            <a:avLst/>
          </a:prstGeom>
          <a:solidFill>
            <a:srgbClr val="0A1F5C"/>
          </a:solidFill>
          <a:ln w="25400">
            <a:solidFill>
              <a:srgbClr val="1A9F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57200" y="1188720"/>
            <a:ext cx="2011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dirty="0">
                <a:solidFill>
                  <a:srgbClr val="F5C842"/>
                </a:solidFill>
              </a:rPr>
              <a:t>⚠</a:t>
            </a:r>
            <a:endParaRPr lang="en-US" sz="6000" dirty="0"/>
          </a:p>
        </p:txBody>
      </p:sp>
      <p:sp>
        <p:nvSpPr>
          <p:cNvPr id="15" name="Shape 13"/>
          <p:cNvSpPr/>
          <p:nvPr/>
        </p:nvSpPr>
        <p:spPr>
          <a:xfrm>
            <a:off x="2834640" y="1097280"/>
            <a:ext cx="5943600" cy="960120"/>
          </a:xfrm>
          <a:prstGeom prst="rect">
            <a:avLst/>
          </a:prstGeom>
          <a:solidFill>
            <a:srgbClr val="021244"/>
          </a:solidFill>
          <a:ln w="15240">
            <a:solidFill>
              <a:srgbClr val="1A9F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2834640" y="1097280"/>
            <a:ext cx="54864" cy="960120"/>
          </a:xfrm>
          <a:prstGeom prst="rect">
            <a:avLst/>
          </a:prstGeom>
          <a:solidFill>
            <a:srgbClr val="1A9FD8"/>
          </a:solidFill>
          <a:ln w="12700">
            <a:solidFill>
              <a:srgbClr val="1A9F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944368" y="114300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BC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Unauthorized Modification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944368" y="1444752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Important files like reports, documents and system files can be changed without the user's knowledge.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834640" y="2194560"/>
            <a:ext cx="5943600" cy="960120"/>
          </a:xfrm>
          <a:prstGeom prst="rect">
            <a:avLst/>
          </a:prstGeom>
          <a:solidFill>
            <a:srgbClr val="021244"/>
          </a:solidFill>
          <a:ln w="15240">
            <a:solidFill>
              <a:srgbClr val="1A9F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2834640" y="2194560"/>
            <a:ext cx="54864" cy="960120"/>
          </a:xfrm>
          <a:prstGeom prst="rect">
            <a:avLst/>
          </a:prstGeom>
          <a:solidFill>
            <a:srgbClr val="1A9FD8"/>
          </a:solidFill>
          <a:ln w="12700">
            <a:solidFill>
              <a:srgbClr val="1A9F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944368" y="224028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BC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Detection Mechanism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944368" y="2542032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users have no simple way to verify if their files have been altered or tampered with.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834640" y="3291840"/>
            <a:ext cx="5943600" cy="960120"/>
          </a:xfrm>
          <a:prstGeom prst="rect">
            <a:avLst/>
          </a:prstGeom>
          <a:solidFill>
            <a:srgbClr val="021244"/>
          </a:solidFill>
          <a:ln w="15240">
            <a:solidFill>
              <a:srgbClr val="1A9F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2834640" y="3291840"/>
            <a:ext cx="54864" cy="960120"/>
          </a:xfrm>
          <a:prstGeom prst="rect">
            <a:avLst/>
          </a:prstGeom>
          <a:solidFill>
            <a:srgbClr val="1A9FD8"/>
          </a:solidFill>
          <a:ln w="12700">
            <a:solidFill>
              <a:srgbClr val="1A9F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2944368" y="333756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BC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Breaches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944368" y="3639312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Undetected modifications can lead to data corruption, loss of information or serious security threats.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20E3A"/>
          </a:solidFill>
          <a:ln w="12700">
            <a:solidFill>
              <a:srgbClr val="020E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828800" y="457200"/>
            <a:ext cx="5486400" cy="3657600"/>
          </a:xfrm>
          <a:prstGeom prst="ellipse">
            <a:avLst/>
          </a:prstGeom>
          <a:solidFill>
            <a:srgbClr val="0A2870">
              <a:alpha val="45000"/>
            </a:srgbClr>
          </a:solidFill>
          <a:ln w="12700">
            <a:solidFill>
              <a:srgbClr val="0A287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010C30"/>
          </a:solidFill>
          <a:ln w="12700">
            <a:solidFill>
              <a:srgbClr val="010C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0" y="4745736"/>
            <a:ext cx="9144000" cy="388620"/>
          </a:xfrm>
          <a:prstGeom prst="rect">
            <a:avLst/>
          </a:prstGeom>
          <a:solidFill>
            <a:srgbClr val="010C30"/>
          </a:solidFill>
          <a:ln w="12700">
            <a:solidFill>
              <a:srgbClr val="010C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0" y="402336"/>
            <a:ext cx="9144000" cy="36576"/>
          </a:xfrm>
          <a:prstGeom prst="rect">
            <a:avLst/>
          </a:prstGeom>
          <a:solidFill>
            <a:srgbClr val="1A9FD8"/>
          </a:solidFill>
          <a:ln w="12700">
            <a:solidFill>
              <a:srgbClr val="1A9F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0" y="4745736"/>
            <a:ext cx="9144000" cy="27432"/>
          </a:xfrm>
          <a:prstGeom prst="rect">
            <a:avLst/>
          </a:prstGeom>
          <a:solidFill>
            <a:srgbClr val="1A9FD8"/>
          </a:solidFill>
          <a:ln w="12700">
            <a:solidFill>
              <a:srgbClr val="1A9F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4320" y="4754880"/>
            <a:ext cx="4572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0" y="4754880"/>
            <a:ext cx="429768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65760" y="50292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Solution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365760" y="987552"/>
            <a:ext cx="8412480" cy="22860"/>
          </a:xfrm>
          <a:prstGeom prst="rect">
            <a:avLst/>
          </a:prstGeom>
          <a:solidFill>
            <a:srgbClr val="1A9FD8">
              <a:alpha val="70000"/>
            </a:srgbClr>
          </a:solidFill>
          <a:ln w="12700">
            <a:solidFill>
              <a:srgbClr val="1A9FD8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7200" y="10515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C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C++ based File Integrity Monitoring System that generates a unique hash value for selected files and stores it securely.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65760" y="1691640"/>
            <a:ext cx="4206240" cy="1143000"/>
          </a:xfrm>
          <a:prstGeom prst="rect">
            <a:avLst/>
          </a:prstGeom>
          <a:solidFill>
            <a:srgbClr val="021244"/>
          </a:solidFill>
          <a:ln w="12700">
            <a:solidFill>
              <a:srgbClr val="1A5F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65760" y="1691640"/>
            <a:ext cx="54864" cy="1143000"/>
          </a:xfrm>
          <a:prstGeom prst="rect">
            <a:avLst/>
          </a:prstGeom>
          <a:solidFill>
            <a:srgbClr val="1A9FD8"/>
          </a:solidFill>
          <a:ln w="12700">
            <a:solidFill>
              <a:srgbClr val="1A9F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57200" y="17647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🔐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960120" y="176479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BC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Hash Generation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75488" y="2103120"/>
            <a:ext cx="3977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 SHA-256 hash of any file in binary mode — works on .txt, .pdf, .docx and more.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65760" y="3017520"/>
            <a:ext cx="4206240" cy="1143000"/>
          </a:xfrm>
          <a:prstGeom prst="rect">
            <a:avLst/>
          </a:prstGeom>
          <a:solidFill>
            <a:srgbClr val="021244"/>
          </a:solidFill>
          <a:ln w="12700">
            <a:solidFill>
              <a:srgbClr val="1A5F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365760" y="3017520"/>
            <a:ext cx="54864" cy="1143000"/>
          </a:xfrm>
          <a:prstGeom prst="rect">
            <a:avLst/>
          </a:prstGeom>
          <a:solidFill>
            <a:srgbClr val="1A9FD8"/>
          </a:solidFill>
          <a:ln w="12700">
            <a:solidFill>
              <a:srgbClr val="1A9F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57200" y="3090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💾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960120" y="309067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BC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 Storage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75488" y="3429000"/>
            <a:ext cx="3977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 the baseline hash with timestamp in a local database file (hash.txt).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846320" y="1691640"/>
            <a:ext cx="4206240" cy="1143000"/>
          </a:xfrm>
          <a:prstGeom prst="rect">
            <a:avLst/>
          </a:prstGeom>
          <a:solidFill>
            <a:srgbClr val="021244"/>
          </a:solidFill>
          <a:ln w="12700">
            <a:solidFill>
              <a:srgbClr val="1A5F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846320" y="1691640"/>
            <a:ext cx="54864" cy="1143000"/>
          </a:xfrm>
          <a:prstGeom prst="rect">
            <a:avLst/>
          </a:prstGeom>
          <a:solidFill>
            <a:srgbClr val="1A9FD8"/>
          </a:solidFill>
          <a:ln w="12700">
            <a:solidFill>
              <a:srgbClr val="1A9F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937760" y="17647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🔍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5440680" y="176479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BC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Verification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956048" y="2103120"/>
            <a:ext cx="3977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Re-calculate hash at any time and compare with the stored baseline to detect changes.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846320" y="3017520"/>
            <a:ext cx="4206240" cy="1143000"/>
          </a:xfrm>
          <a:prstGeom prst="rect">
            <a:avLst/>
          </a:prstGeom>
          <a:solidFill>
            <a:srgbClr val="021244"/>
          </a:solidFill>
          <a:ln w="12700">
            <a:solidFill>
              <a:srgbClr val="1A5F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846320" y="3017520"/>
            <a:ext cx="54864" cy="1143000"/>
          </a:xfrm>
          <a:prstGeom prst="rect">
            <a:avLst/>
          </a:prstGeom>
          <a:solidFill>
            <a:srgbClr val="1A9FD8"/>
          </a:solidFill>
          <a:ln w="12700">
            <a:solidFill>
              <a:srgbClr val="1A9F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937760" y="3090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🚨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5440680" y="309067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BC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 System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956048" y="3429000"/>
            <a:ext cx="3977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Immediately alerts the user when file modification or tampering is detected.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20E3A"/>
          </a:solidFill>
          <a:ln w="12700">
            <a:solidFill>
              <a:srgbClr val="020E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828800" y="457200"/>
            <a:ext cx="5486400" cy="3657600"/>
          </a:xfrm>
          <a:prstGeom prst="ellipse">
            <a:avLst/>
          </a:prstGeom>
          <a:solidFill>
            <a:srgbClr val="0A2870">
              <a:alpha val="45000"/>
            </a:srgbClr>
          </a:solidFill>
          <a:ln w="12700">
            <a:solidFill>
              <a:srgbClr val="0A287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010C30"/>
          </a:solidFill>
          <a:ln w="12700">
            <a:solidFill>
              <a:srgbClr val="010C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10C30"/>
          </a:solidFill>
          <a:ln w="12700">
            <a:solidFill>
              <a:srgbClr val="010C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0" y="402336"/>
            <a:ext cx="9144000" cy="36576"/>
          </a:xfrm>
          <a:prstGeom prst="rect">
            <a:avLst/>
          </a:prstGeom>
          <a:solidFill>
            <a:srgbClr val="1A9FD8"/>
          </a:solidFill>
          <a:ln w="12700">
            <a:solidFill>
              <a:srgbClr val="1A9F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0" y="4745736"/>
            <a:ext cx="9144000" cy="27432"/>
          </a:xfrm>
          <a:prstGeom prst="rect">
            <a:avLst/>
          </a:prstGeom>
          <a:solidFill>
            <a:srgbClr val="1A9FD8"/>
          </a:solidFill>
          <a:ln w="12700">
            <a:solidFill>
              <a:srgbClr val="1A9F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4320" y="4754880"/>
            <a:ext cx="4572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0" y="4754880"/>
            <a:ext cx="429768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65760" y="50292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Hashing?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365760" y="987552"/>
            <a:ext cx="8412480" cy="22860"/>
          </a:xfrm>
          <a:prstGeom prst="rect">
            <a:avLst/>
          </a:prstGeom>
          <a:solidFill>
            <a:srgbClr val="1A9FD8">
              <a:alpha val="70000"/>
            </a:srgbClr>
          </a:solidFill>
          <a:ln w="12700">
            <a:solidFill>
              <a:srgbClr val="1A9FD8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7200" y="10515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C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Hashing is the process of converting any data into a fixed-size unique string called a HASH or DIGEST.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365760" y="1600200"/>
            <a:ext cx="2377440" cy="914400"/>
          </a:xfrm>
          <a:prstGeom prst="roundRect">
            <a:avLst>
              <a:gd name="adj" fmla="val 8000"/>
            </a:avLst>
          </a:prstGeom>
          <a:solidFill>
            <a:srgbClr val="1A5FAD"/>
          </a:solidFill>
          <a:ln w="1016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65760" y="160020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Original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761488" y="2057400"/>
            <a:ext cx="777240" cy="0"/>
          </a:xfrm>
          <a:prstGeom prst="line">
            <a:avLst/>
          </a:prstGeom>
          <a:noFill/>
          <a:ln w="25400">
            <a:solidFill>
              <a:srgbClr val="5BC8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383280" y="1938528"/>
            <a:ext cx="164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C8F5"/>
                </a:solidFill>
              </a:rPr>
              <a:t>▶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200400" y="1600200"/>
            <a:ext cx="2377440" cy="914400"/>
          </a:xfrm>
          <a:prstGeom prst="roundRect">
            <a:avLst>
              <a:gd name="adj" fmla="val 8000"/>
            </a:avLst>
          </a:prstGeom>
          <a:solidFill>
            <a:srgbClr val="1A9FD8"/>
          </a:solidFill>
          <a:ln w="1016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200400" y="160020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SHA-256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596128" y="2057400"/>
            <a:ext cx="777240" cy="0"/>
          </a:xfrm>
          <a:prstGeom prst="line">
            <a:avLst/>
          </a:prstGeom>
          <a:noFill/>
          <a:ln w="25400">
            <a:solidFill>
              <a:srgbClr val="5BC8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217920" y="1938528"/>
            <a:ext cx="164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C8F5"/>
                </a:solidFill>
              </a:rPr>
              <a:t>▶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035040" y="1600200"/>
            <a:ext cx="2377440" cy="914400"/>
          </a:xfrm>
          <a:prstGeom prst="roundRect">
            <a:avLst>
              <a:gd name="adj" fmla="val 8000"/>
            </a:avLst>
          </a:prstGeom>
          <a:solidFill>
            <a:srgbClr val="1A5FAD"/>
          </a:solidFill>
          <a:ln w="1016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035040" y="160020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64-char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Hash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65760" y="2697480"/>
            <a:ext cx="2011680" cy="1783080"/>
          </a:xfrm>
          <a:prstGeom prst="rect">
            <a:avLst/>
          </a:prstGeom>
          <a:solidFill>
            <a:srgbClr val="021244"/>
          </a:solidFill>
          <a:ln w="12700">
            <a:solidFill>
              <a:srgbClr val="1A5F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365760" y="2697480"/>
            <a:ext cx="2011680" cy="54864"/>
          </a:xfrm>
          <a:prstGeom prst="rect">
            <a:avLst/>
          </a:prstGeom>
          <a:solidFill>
            <a:srgbClr val="1A9FD8"/>
          </a:solidFill>
          <a:ln w="12700">
            <a:solidFill>
              <a:srgbClr val="1A9F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57200" y="278892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C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7200" y="3127248"/>
            <a:ext cx="1828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file ALWAYS gives same hash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2514600" y="2697480"/>
            <a:ext cx="2011680" cy="1783080"/>
          </a:xfrm>
          <a:prstGeom prst="rect">
            <a:avLst/>
          </a:prstGeom>
          <a:solidFill>
            <a:srgbClr val="021244"/>
          </a:solidFill>
          <a:ln w="12700">
            <a:solidFill>
              <a:srgbClr val="1A5F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2514600" y="2697480"/>
            <a:ext cx="2011680" cy="54864"/>
          </a:xfrm>
          <a:prstGeom prst="rect">
            <a:avLst/>
          </a:prstGeom>
          <a:solidFill>
            <a:srgbClr val="1A9FD8"/>
          </a:solidFill>
          <a:ln w="12700">
            <a:solidFill>
              <a:srgbClr val="1A9F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2606040" y="278892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C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One-Way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2606040" y="3127248"/>
            <a:ext cx="1828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Cannot reverse hash to get original file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663440" y="2697480"/>
            <a:ext cx="2011680" cy="1783080"/>
          </a:xfrm>
          <a:prstGeom prst="rect">
            <a:avLst/>
          </a:prstGeom>
          <a:solidFill>
            <a:srgbClr val="021244"/>
          </a:solidFill>
          <a:ln w="12700">
            <a:solidFill>
              <a:srgbClr val="1A5F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4663440" y="2697480"/>
            <a:ext cx="2011680" cy="54864"/>
          </a:xfrm>
          <a:prstGeom prst="rect">
            <a:avLst/>
          </a:prstGeom>
          <a:solidFill>
            <a:srgbClr val="1A9FD8"/>
          </a:solidFill>
          <a:ln w="12700">
            <a:solidFill>
              <a:srgbClr val="1A9F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754880" y="278892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C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Avalanche Effect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754880" y="3127248"/>
            <a:ext cx="1828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character change = completely different hash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812280" y="2697480"/>
            <a:ext cx="2011680" cy="1783080"/>
          </a:xfrm>
          <a:prstGeom prst="rect">
            <a:avLst/>
          </a:prstGeom>
          <a:solidFill>
            <a:srgbClr val="021244"/>
          </a:solidFill>
          <a:ln w="12700">
            <a:solidFill>
              <a:srgbClr val="1A5F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6812280" y="2697480"/>
            <a:ext cx="2011680" cy="54864"/>
          </a:xfrm>
          <a:prstGeom prst="rect">
            <a:avLst/>
          </a:prstGeom>
          <a:solidFill>
            <a:srgbClr val="1A9FD8"/>
          </a:solidFill>
          <a:ln w="12700">
            <a:solidFill>
              <a:srgbClr val="1A9F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6903720" y="278892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C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Fixed Size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903720" y="3127248"/>
            <a:ext cx="1828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 64 characters regardless of file size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20E3A"/>
          </a:solidFill>
          <a:ln w="12700">
            <a:solidFill>
              <a:srgbClr val="020E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828800" y="457200"/>
            <a:ext cx="5486400" cy="3657600"/>
          </a:xfrm>
          <a:prstGeom prst="ellipse">
            <a:avLst/>
          </a:prstGeom>
          <a:solidFill>
            <a:srgbClr val="0A2870">
              <a:alpha val="45000"/>
            </a:srgbClr>
          </a:solidFill>
          <a:ln w="12700">
            <a:solidFill>
              <a:srgbClr val="0A287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010C30"/>
          </a:solidFill>
          <a:ln w="12700">
            <a:solidFill>
              <a:srgbClr val="010C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10C30"/>
          </a:solidFill>
          <a:ln w="12700">
            <a:solidFill>
              <a:srgbClr val="010C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0" y="402336"/>
            <a:ext cx="9144000" cy="36576"/>
          </a:xfrm>
          <a:prstGeom prst="rect">
            <a:avLst/>
          </a:prstGeom>
          <a:solidFill>
            <a:srgbClr val="1A9FD8"/>
          </a:solidFill>
          <a:ln w="12700">
            <a:solidFill>
              <a:srgbClr val="1A9F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0" y="4745736"/>
            <a:ext cx="9144000" cy="27432"/>
          </a:xfrm>
          <a:prstGeom prst="rect">
            <a:avLst/>
          </a:prstGeom>
          <a:solidFill>
            <a:srgbClr val="1A9FD8"/>
          </a:solidFill>
          <a:ln w="12700">
            <a:solidFill>
              <a:srgbClr val="1A9F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4320" y="4754880"/>
            <a:ext cx="4572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0" y="4754880"/>
            <a:ext cx="429768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65760" y="50292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SHA-256 Algorithm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365760" y="987552"/>
            <a:ext cx="8412480" cy="22860"/>
          </a:xfrm>
          <a:prstGeom prst="rect">
            <a:avLst/>
          </a:prstGeom>
          <a:solidFill>
            <a:srgbClr val="1A9FD8">
              <a:alpha val="70000"/>
            </a:srgbClr>
          </a:solidFill>
          <a:ln w="12700">
            <a:solidFill>
              <a:srgbClr val="1A9FD8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65760" y="1097280"/>
            <a:ext cx="3931920" cy="3474720"/>
          </a:xfrm>
          <a:prstGeom prst="rect">
            <a:avLst/>
          </a:prstGeom>
          <a:solidFill>
            <a:srgbClr val="021244"/>
          </a:solidFill>
          <a:ln w="12700">
            <a:solidFill>
              <a:srgbClr val="1A5FAD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365760" y="1097280"/>
            <a:ext cx="54864" cy="3474720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02920" y="11430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C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SHA-256?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690826"/>
            <a:ext cx="3657600" cy="38628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 algn="just">
              <a:lnSpc>
                <a:spcPct val="150000"/>
              </a:lnSpc>
              <a:buSzPct val="100000"/>
              <a:buFont typeface="Wingdings" panose="05000000000000000000" pitchFamily="2" charset="2"/>
              <a:buChar char="Ø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 = Secure Hash Algorithm</a:t>
            </a:r>
            <a:endParaRPr lang="en-US" sz="1100" dirty="0"/>
          </a:p>
          <a:p>
            <a:pPr marL="342900" indent="-342900" algn="just">
              <a:lnSpc>
                <a:spcPct val="150000"/>
              </a:lnSpc>
              <a:buSzPct val="100000"/>
              <a:buFont typeface="Wingdings" panose="05000000000000000000" pitchFamily="2" charset="2"/>
              <a:buChar char="Ø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256 = Output is 256 bits</a:t>
            </a:r>
            <a:endParaRPr lang="en-US" sz="1100" dirty="0"/>
          </a:p>
          <a:p>
            <a:pPr marL="342900" indent="-342900" algn="just">
              <a:lnSpc>
                <a:spcPct val="150000"/>
              </a:lnSpc>
              <a:buSzPct val="100000"/>
              <a:buFont typeface="Wingdings" panose="05000000000000000000" pitchFamily="2" charset="2"/>
              <a:buChar char="Ø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= 64 hex characters</a:t>
            </a:r>
            <a:endParaRPr lang="en-US" sz="1100" dirty="0"/>
          </a:p>
          <a:p>
            <a:pPr marL="342900" indent="-342900" algn="just">
              <a:lnSpc>
                <a:spcPct val="150000"/>
              </a:lnSpc>
              <a:buSzPct val="100000"/>
              <a:buFont typeface="Wingdings" panose="05000000000000000000" pitchFamily="2" charset="2"/>
              <a:buChar char="Ø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Developed by NSA (USA)</a:t>
            </a:r>
            <a:endParaRPr lang="en-US" sz="1100" dirty="0"/>
          </a:p>
          <a:p>
            <a:pPr marL="342900" indent="-342900" algn="just">
              <a:lnSpc>
                <a:spcPct val="150000"/>
              </a:lnSpc>
              <a:buSzPct val="100000"/>
              <a:buFont typeface="Wingdings" panose="05000000000000000000" pitchFamily="2" charset="2"/>
              <a:buChar char="Ø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Used in Bitcoin, TLS, HTTPS</a:t>
            </a:r>
            <a:endParaRPr lang="en-US" sz="1100" dirty="0"/>
          </a:p>
          <a:p>
            <a:pPr marL="342900" indent="-342900" algn="just">
              <a:lnSpc>
                <a:spcPct val="150000"/>
              </a:lnSpc>
              <a:buSzPct val="100000"/>
              <a:buFont typeface="Wingdings" panose="05000000000000000000" pitchFamily="2" charset="2"/>
              <a:buChar char="Ø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 standard algorithm</a:t>
            </a:r>
            <a:endParaRPr lang="en-US" sz="1100" dirty="0"/>
          </a:p>
          <a:p>
            <a:pPr marL="342900" indent="-342900" algn="just">
              <a:lnSpc>
                <a:spcPct val="150000"/>
              </a:lnSpc>
              <a:buSzPct val="100000"/>
              <a:buFont typeface="Wingdings" panose="05000000000000000000" pitchFamily="2" charset="2"/>
              <a:buChar char="Ø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Implemented manually in C++</a:t>
            </a:r>
            <a:endParaRPr lang="en-US" sz="1100" dirty="0"/>
          </a:p>
          <a:p>
            <a:pPr marL="342900" indent="-342900" algn="just">
              <a:lnSpc>
                <a:spcPct val="150000"/>
              </a:lnSpc>
              <a:buSzPct val="100000"/>
              <a:buFont typeface="Wingdings" panose="05000000000000000000" pitchFamily="2" charset="2"/>
              <a:buChar char="Ø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external library needed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0" y="1170432"/>
            <a:ext cx="384048" cy="384048"/>
          </a:xfrm>
          <a:prstGeom prst="ellipse">
            <a:avLst/>
          </a:prstGeom>
          <a:solidFill>
            <a:srgbClr val="1A9FD8"/>
          </a:solidFill>
          <a:ln w="12700">
            <a:solidFill>
              <a:srgbClr val="1A9F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572000" y="11704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74920" y="115214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initial hash values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074920" y="139903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C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fixed numbers from prime square roots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64024" y="1572768"/>
            <a:ext cx="0" cy="219456"/>
          </a:xfrm>
          <a:prstGeom prst="line">
            <a:avLst/>
          </a:prstGeom>
          <a:noFill/>
          <a:ln w="12700">
            <a:solidFill>
              <a:srgbClr val="1A9F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572000" y="1865376"/>
            <a:ext cx="384048" cy="384048"/>
          </a:xfrm>
          <a:prstGeom prst="ellipse">
            <a:avLst/>
          </a:prstGeom>
          <a:solidFill>
            <a:srgbClr val="1A9FD8"/>
          </a:solidFill>
          <a:ln w="12700">
            <a:solidFill>
              <a:srgbClr val="1A9F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572000" y="18653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074920" y="184708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Pad the message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074920" y="209397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C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size a multiple of 512 bits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764024" y="2267712"/>
            <a:ext cx="0" cy="219456"/>
          </a:xfrm>
          <a:prstGeom prst="line">
            <a:avLst/>
          </a:prstGeom>
          <a:noFill/>
          <a:ln w="12700">
            <a:solidFill>
              <a:srgbClr val="1A9F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572000" y="2560320"/>
            <a:ext cx="384048" cy="384048"/>
          </a:xfrm>
          <a:prstGeom prst="ellipse">
            <a:avLst/>
          </a:prstGeom>
          <a:solidFill>
            <a:srgbClr val="1A9FD8"/>
          </a:solidFill>
          <a:ln w="12700">
            <a:solidFill>
              <a:srgbClr val="1A9F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572000" y="2560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074920" y="254203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 into 64-byte blocks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5074920" y="27889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C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 each block separately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764024" y="2962656"/>
            <a:ext cx="0" cy="219456"/>
          </a:xfrm>
          <a:prstGeom prst="line">
            <a:avLst/>
          </a:prstGeom>
          <a:noFill/>
          <a:ln w="12700">
            <a:solidFill>
              <a:srgbClr val="1A9F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4572000" y="3255264"/>
            <a:ext cx="384048" cy="384048"/>
          </a:xfrm>
          <a:prstGeom prst="ellipse">
            <a:avLst/>
          </a:prstGeom>
          <a:solidFill>
            <a:srgbClr val="1A9FD8"/>
          </a:solidFill>
          <a:ln w="12700">
            <a:solidFill>
              <a:srgbClr val="1A9F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572000" y="32552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074920" y="323697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 rounds of mixing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5074920" y="348386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C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Bitwise AND, OR, XOR, rotate operations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764024" y="3657600"/>
            <a:ext cx="0" cy="219456"/>
          </a:xfrm>
          <a:prstGeom prst="line">
            <a:avLst/>
          </a:prstGeom>
          <a:noFill/>
          <a:ln w="12700">
            <a:solidFill>
              <a:srgbClr val="1A9F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4572000" y="3950208"/>
            <a:ext cx="384048" cy="384048"/>
          </a:xfrm>
          <a:prstGeom prst="ellipse">
            <a:avLst/>
          </a:prstGeom>
          <a:solidFill>
            <a:srgbClr val="1A9FD8"/>
          </a:solidFill>
          <a:ln w="12700">
            <a:solidFill>
              <a:srgbClr val="1A9F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457200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074920" y="39319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Produce final hash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5074920" y="417880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C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Convert 256-bit result to 64 hex chars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20E3A"/>
          </a:solidFill>
          <a:ln w="12700">
            <a:solidFill>
              <a:srgbClr val="020E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828800" y="457200"/>
            <a:ext cx="5486400" cy="3657600"/>
          </a:xfrm>
          <a:prstGeom prst="ellipse">
            <a:avLst/>
          </a:prstGeom>
          <a:solidFill>
            <a:srgbClr val="0A2870">
              <a:alpha val="45000"/>
            </a:srgbClr>
          </a:solidFill>
          <a:ln w="12700">
            <a:solidFill>
              <a:srgbClr val="0A287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010C30"/>
          </a:solidFill>
          <a:ln w="12700">
            <a:solidFill>
              <a:srgbClr val="010C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10C30"/>
          </a:solidFill>
          <a:ln w="12700">
            <a:solidFill>
              <a:srgbClr val="010C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0" y="402336"/>
            <a:ext cx="9144000" cy="36576"/>
          </a:xfrm>
          <a:prstGeom prst="rect">
            <a:avLst/>
          </a:prstGeom>
          <a:solidFill>
            <a:srgbClr val="1A9FD8"/>
          </a:solidFill>
          <a:ln w="12700">
            <a:solidFill>
              <a:srgbClr val="1A9F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0" y="4745736"/>
            <a:ext cx="9144000" cy="27432"/>
          </a:xfrm>
          <a:prstGeom prst="rect">
            <a:avLst/>
          </a:prstGeom>
          <a:solidFill>
            <a:srgbClr val="1A9FD8"/>
          </a:solidFill>
          <a:ln w="12700">
            <a:solidFill>
              <a:srgbClr val="1A9F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4320" y="4754880"/>
            <a:ext cx="4572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0" y="4754880"/>
            <a:ext cx="429768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65760" y="50292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Features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365760" y="987552"/>
            <a:ext cx="8412480" cy="22860"/>
          </a:xfrm>
          <a:prstGeom prst="rect">
            <a:avLst/>
          </a:prstGeom>
          <a:solidFill>
            <a:srgbClr val="1A9FD8">
              <a:alpha val="70000"/>
            </a:srgbClr>
          </a:solidFill>
          <a:ln w="12700">
            <a:solidFill>
              <a:srgbClr val="1A9FD8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20040" y="1143000"/>
            <a:ext cx="2743200" cy="1554480"/>
          </a:xfrm>
          <a:prstGeom prst="rect">
            <a:avLst/>
          </a:prstGeom>
          <a:solidFill>
            <a:srgbClr val="021244"/>
          </a:solidFill>
          <a:ln w="12700">
            <a:solidFill>
              <a:srgbClr val="1A5F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20040" y="1143000"/>
            <a:ext cx="2743200" cy="54864"/>
          </a:xfrm>
          <a:prstGeom prst="rect">
            <a:avLst/>
          </a:prstGeom>
          <a:solidFill>
            <a:srgbClr val="1A9FD8"/>
          </a:solidFill>
          <a:ln w="12700">
            <a:solidFill>
              <a:srgbClr val="1A9F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29768" y="123444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BC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🔑  Password Login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29768" y="1600200"/>
            <a:ext cx="2514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Password-protected access. System locks after 3 wrong attempts. Input hidden with * while typing.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246120" y="1143000"/>
            <a:ext cx="2743200" cy="1554480"/>
          </a:xfrm>
          <a:prstGeom prst="rect">
            <a:avLst/>
          </a:prstGeom>
          <a:solidFill>
            <a:srgbClr val="021244"/>
          </a:solidFill>
          <a:ln w="12700">
            <a:solidFill>
              <a:srgbClr val="1A5F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246120" y="1143000"/>
            <a:ext cx="2743200" cy="54864"/>
          </a:xfrm>
          <a:prstGeom prst="rect">
            <a:avLst/>
          </a:prstGeom>
          <a:solidFill>
            <a:srgbClr val="1A9FD8"/>
          </a:solidFill>
          <a:ln w="12700">
            <a:solidFill>
              <a:srgbClr val="1A9F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355848" y="123444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BC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➕  Add File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355848" y="1600200"/>
            <a:ext cx="2514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 SHA-256 hash of any file. Store as baseline in hash.txt with timestamp.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172200" y="1143000"/>
            <a:ext cx="2743200" cy="1554480"/>
          </a:xfrm>
          <a:prstGeom prst="rect">
            <a:avLst/>
          </a:prstGeom>
          <a:solidFill>
            <a:srgbClr val="021244"/>
          </a:solidFill>
          <a:ln w="12700">
            <a:solidFill>
              <a:srgbClr val="1A5F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172200" y="1143000"/>
            <a:ext cx="2743200" cy="54864"/>
          </a:xfrm>
          <a:prstGeom prst="rect">
            <a:avLst/>
          </a:prstGeom>
          <a:solidFill>
            <a:srgbClr val="1A9FD8"/>
          </a:solidFill>
          <a:ln w="12700">
            <a:solidFill>
              <a:srgbClr val="1A9F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281928" y="123444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BC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Check Integrity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281928" y="1600200"/>
            <a:ext cx="2514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Re-compute hash and compare with stored baseline. Shows SAFE or MODIFIED alert.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20040" y="2834640"/>
            <a:ext cx="2743200" cy="1554480"/>
          </a:xfrm>
          <a:prstGeom prst="rect">
            <a:avLst/>
          </a:prstGeom>
          <a:solidFill>
            <a:srgbClr val="021244"/>
          </a:solidFill>
          <a:ln w="12700">
            <a:solidFill>
              <a:srgbClr val="1A5F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320040" y="2834640"/>
            <a:ext cx="2743200" cy="54864"/>
          </a:xfrm>
          <a:prstGeom prst="rect">
            <a:avLst/>
          </a:prstGeom>
          <a:solidFill>
            <a:srgbClr val="1A9FD8"/>
          </a:solidFill>
          <a:ln w="12700">
            <a:solidFill>
              <a:srgbClr val="1A9F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29768" y="292608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BC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👁  View All Files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29768" y="3291840"/>
            <a:ext cx="2514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 all monitored files with their stored hash values and dates.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246120" y="2834640"/>
            <a:ext cx="2743200" cy="1554480"/>
          </a:xfrm>
          <a:prstGeom prst="rect">
            <a:avLst/>
          </a:prstGeom>
          <a:solidFill>
            <a:srgbClr val="021244"/>
          </a:solidFill>
          <a:ln w="12700">
            <a:solidFill>
              <a:srgbClr val="1A5F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3246120" y="2834640"/>
            <a:ext cx="2743200" cy="54864"/>
          </a:xfrm>
          <a:prstGeom prst="rect">
            <a:avLst/>
          </a:prstGeom>
          <a:solidFill>
            <a:srgbClr val="1A9FD8"/>
          </a:solidFill>
          <a:ln w="12700">
            <a:solidFill>
              <a:srgbClr val="1A9F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3355848" y="292608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BC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 Activity Log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355848" y="3291840"/>
            <a:ext cx="2514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action is saved to log.txt with date and time for audit purposes.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172200" y="2834640"/>
            <a:ext cx="2743200" cy="1554480"/>
          </a:xfrm>
          <a:prstGeom prst="rect">
            <a:avLst/>
          </a:prstGeom>
          <a:solidFill>
            <a:srgbClr val="021244"/>
          </a:solidFill>
          <a:ln w="12700">
            <a:solidFill>
              <a:srgbClr val="1A5F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6172200" y="2834640"/>
            <a:ext cx="2743200" cy="54864"/>
          </a:xfrm>
          <a:prstGeom prst="rect">
            <a:avLst/>
          </a:prstGeom>
          <a:solidFill>
            <a:srgbClr val="1A9FD8"/>
          </a:solidFill>
          <a:ln w="12700">
            <a:solidFill>
              <a:srgbClr val="1A9F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281928" y="292608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BC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🗑  Remove File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281928" y="3291840"/>
            <a:ext cx="2514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 any file from monitoring. Database updated without that entry.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20E3A"/>
          </a:solidFill>
          <a:ln w="12700">
            <a:solidFill>
              <a:srgbClr val="020E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828800" y="457200"/>
            <a:ext cx="5486400" cy="3657600"/>
          </a:xfrm>
          <a:prstGeom prst="ellipse">
            <a:avLst/>
          </a:prstGeom>
          <a:solidFill>
            <a:srgbClr val="0A2870">
              <a:alpha val="45000"/>
            </a:srgbClr>
          </a:solidFill>
          <a:ln w="12700">
            <a:solidFill>
              <a:srgbClr val="0A287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010C30"/>
          </a:solidFill>
          <a:ln w="12700">
            <a:solidFill>
              <a:srgbClr val="010C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10C30"/>
          </a:solidFill>
          <a:ln w="12700">
            <a:solidFill>
              <a:srgbClr val="010C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0" y="402336"/>
            <a:ext cx="9144000" cy="36576"/>
          </a:xfrm>
          <a:prstGeom prst="rect">
            <a:avLst/>
          </a:prstGeom>
          <a:solidFill>
            <a:srgbClr val="1A9FD8"/>
          </a:solidFill>
          <a:ln w="12700">
            <a:solidFill>
              <a:srgbClr val="1A9F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0" y="4745736"/>
            <a:ext cx="9144000" cy="27432"/>
          </a:xfrm>
          <a:prstGeom prst="rect">
            <a:avLst/>
          </a:prstGeom>
          <a:solidFill>
            <a:srgbClr val="1A9FD8"/>
          </a:solidFill>
          <a:ln w="12700">
            <a:solidFill>
              <a:srgbClr val="1A9F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4320" y="4754880"/>
            <a:ext cx="4572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0" y="4754880"/>
            <a:ext cx="429768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65760" y="50292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 — Process Flow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365760" y="987552"/>
            <a:ext cx="8412480" cy="22860"/>
          </a:xfrm>
          <a:prstGeom prst="rect">
            <a:avLst/>
          </a:prstGeom>
          <a:solidFill>
            <a:srgbClr val="1A9FD8">
              <a:alpha val="70000"/>
            </a:srgbClr>
          </a:solidFill>
          <a:ln w="12700">
            <a:solidFill>
              <a:srgbClr val="1A9FD8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65760" y="10515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C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 PHASE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1371600"/>
            <a:ext cx="3200400" cy="548640"/>
          </a:xfrm>
          <a:prstGeom prst="roundRect">
            <a:avLst>
              <a:gd name="adj" fmla="val 10000"/>
            </a:avLst>
          </a:prstGeom>
          <a:solidFill>
            <a:srgbClr val="0A2870"/>
          </a:solidFill>
          <a:ln w="15240">
            <a:solidFill>
              <a:srgbClr val="1A9F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57200" y="13716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File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057400" y="1938528"/>
            <a:ext cx="0" cy="201168"/>
          </a:xfrm>
          <a:prstGeom prst="line">
            <a:avLst/>
          </a:prstGeom>
          <a:noFill/>
          <a:ln w="19050">
            <a:solidFill>
              <a:srgbClr val="5BC8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920240" y="208483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C8F5"/>
                </a:solidFill>
              </a:rPr>
              <a:t>▼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2148840"/>
            <a:ext cx="3200400" cy="548640"/>
          </a:xfrm>
          <a:prstGeom prst="roundRect">
            <a:avLst>
              <a:gd name="adj" fmla="val 10000"/>
            </a:avLst>
          </a:prstGeom>
          <a:solidFill>
            <a:srgbClr val="0A2870"/>
          </a:solidFill>
          <a:ln w="15240">
            <a:solidFill>
              <a:srgbClr val="1A9F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57200" y="214884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in Binary Mode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057400" y="2715768"/>
            <a:ext cx="0" cy="201168"/>
          </a:xfrm>
          <a:prstGeom prst="line">
            <a:avLst/>
          </a:prstGeom>
          <a:noFill/>
          <a:ln w="19050">
            <a:solidFill>
              <a:srgbClr val="5BC8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920240" y="286207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C8F5"/>
                </a:solidFill>
              </a:rPr>
              <a:t>▼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7200" y="2926080"/>
            <a:ext cx="3200400" cy="548640"/>
          </a:xfrm>
          <a:prstGeom prst="roundRect">
            <a:avLst>
              <a:gd name="adj" fmla="val 10000"/>
            </a:avLst>
          </a:prstGeom>
          <a:solidFill>
            <a:srgbClr val="0A2870"/>
          </a:solidFill>
          <a:ln w="15240">
            <a:solidFill>
              <a:srgbClr val="1A9F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57200" y="29260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 SHA-256 Hash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057400" y="3493008"/>
            <a:ext cx="0" cy="201168"/>
          </a:xfrm>
          <a:prstGeom prst="line">
            <a:avLst/>
          </a:prstGeom>
          <a:noFill/>
          <a:ln w="19050">
            <a:solidFill>
              <a:srgbClr val="5BC8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1920240" y="363931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C8F5"/>
                </a:solidFill>
              </a:rPr>
              <a:t>▼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57200" y="3703320"/>
            <a:ext cx="3200400" cy="548640"/>
          </a:xfrm>
          <a:prstGeom prst="roundRect">
            <a:avLst>
              <a:gd name="adj" fmla="val 10000"/>
            </a:avLst>
          </a:prstGeom>
          <a:solidFill>
            <a:srgbClr val="0A2870"/>
          </a:solidFill>
          <a:ln w="15240">
            <a:solidFill>
              <a:srgbClr val="1A9F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57200" y="370332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 Hash + Timestamp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297680" y="1051560"/>
            <a:ext cx="0" cy="3566160"/>
          </a:xfrm>
          <a:prstGeom prst="line">
            <a:avLst/>
          </a:prstGeom>
          <a:noFill/>
          <a:ln w="12700">
            <a:solidFill>
              <a:srgbClr val="1A9FD8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3977640" y="256032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C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572000" y="105156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C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VERIFICATION PHASE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754880" y="1371600"/>
            <a:ext cx="3200400" cy="548640"/>
          </a:xfrm>
          <a:prstGeom prst="roundRect">
            <a:avLst>
              <a:gd name="adj" fmla="val 10000"/>
            </a:avLst>
          </a:prstGeom>
          <a:solidFill>
            <a:srgbClr val="0A2870"/>
          </a:solidFill>
          <a:ln w="15240">
            <a:solidFill>
              <a:srgbClr val="1A5F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754880" y="13716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Same File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355080" y="1938528"/>
            <a:ext cx="0" cy="201168"/>
          </a:xfrm>
          <a:prstGeom prst="line">
            <a:avLst/>
          </a:prstGeom>
          <a:noFill/>
          <a:ln w="19050">
            <a:solidFill>
              <a:srgbClr val="5BC8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6217920" y="208483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C8F5"/>
                </a:solidFill>
              </a:rPr>
              <a:t>▼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754880" y="2148840"/>
            <a:ext cx="3200400" cy="548640"/>
          </a:xfrm>
          <a:prstGeom prst="roundRect">
            <a:avLst>
              <a:gd name="adj" fmla="val 10000"/>
            </a:avLst>
          </a:prstGeom>
          <a:solidFill>
            <a:srgbClr val="0A2870"/>
          </a:solidFill>
          <a:ln w="15240">
            <a:solidFill>
              <a:srgbClr val="1A5F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754880" y="214884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in Binary Mode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355080" y="2715768"/>
            <a:ext cx="0" cy="201168"/>
          </a:xfrm>
          <a:prstGeom prst="line">
            <a:avLst/>
          </a:prstGeom>
          <a:noFill/>
          <a:ln w="19050">
            <a:solidFill>
              <a:srgbClr val="5BC8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6217920" y="286207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C8F5"/>
                </a:solidFill>
              </a:rPr>
              <a:t>▼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754880" y="2926080"/>
            <a:ext cx="3200400" cy="548640"/>
          </a:xfrm>
          <a:prstGeom prst="roundRect">
            <a:avLst>
              <a:gd name="adj" fmla="val 10000"/>
            </a:avLst>
          </a:prstGeom>
          <a:solidFill>
            <a:srgbClr val="0A2870"/>
          </a:solidFill>
          <a:ln w="15240">
            <a:solidFill>
              <a:srgbClr val="1A5F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4754880" y="29260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Recompute SHA-256 Hash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6355080" y="3493008"/>
            <a:ext cx="0" cy="201168"/>
          </a:xfrm>
          <a:prstGeom prst="line">
            <a:avLst/>
          </a:prstGeom>
          <a:noFill/>
          <a:ln w="19050">
            <a:solidFill>
              <a:srgbClr val="5BC8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6217920" y="363931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C8F5"/>
                </a:solidFill>
              </a:rPr>
              <a:t>▼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754880" y="3703320"/>
            <a:ext cx="3200400" cy="548640"/>
          </a:xfrm>
          <a:prstGeom prst="roundRect">
            <a:avLst>
              <a:gd name="adj" fmla="val 10000"/>
            </a:avLst>
          </a:prstGeom>
          <a:solidFill>
            <a:srgbClr val="0A2870"/>
          </a:solidFill>
          <a:ln w="15240">
            <a:solidFill>
              <a:srgbClr val="1A5F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4754880" y="370332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with Stored Hash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457200" y="4480560"/>
            <a:ext cx="3657600" cy="347472"/>
          </a:xfrm>
          <a:prstGeom prst="rect">
            <a:avLst/>
          </a:prstGeom>
          <a:solidFill>
            <a:srgbClr val="0A4020"/>
          </a:solidFill>
          <a:ln w="19050">
            <a:solidFill>
              <a:srgbClr val="00C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457200" y="448056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FF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 HASHES MATCH → FILE IS SAFE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4754880" y="4480560"/>
            <a:ext cx="3657600" cy="347472"/>
          </a:xfrm>
          <a:prstGeom prst="rect">
            <a:avLst/>
          </a:prstGeom>
          <a:solidFill>
            <a:srgbClr val="3A0A0A"/>
          </a:solidFill>
          <a:ln w="19050">
            <a:solidFill>
              <a:srgbClr val="FF4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4754880" y="448056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6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✘  MISMATCH → FILE TAMPERED!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20E3A"/>
          </a:solidFill>
          <a:ln w="12700">
            <a:solidFill>
              <a:srgbClr val="020E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828800" y="457200"/>
            <a:ext cx="5486400" cy="3657600"/>
          </a:xfrm>
          <a:prstGeom prst="ellipse">
            <a:avLst/>
          </a:prstGeom>
          <a:solidFill>
            <a:srgbClr val="0A2870">
              <a:alpha val="45000"/>
            </a:srgbClr>
          </a:solidFill>
          <a:ln w="12700">
            <a:solidFill>
              <a:srgbClr val="0A287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010C30"/>
          </a:solidFill>
          <a:ln w="12700">
            <a:solidFill>
              <a:srgbClr val="010C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10C30"/>
          </a:solidFill>
          <a:ln w="12700">
            <a:solidFill>
              <a:srgbClr val="010C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0" y="402336"/>
            <a:ext cx="9144000" cy="36576"/>
          </a:xfrm>
          <a:prstGeom prst="rect">
            <a:avLst/>
          </a:prstGeom>
          <a:solidFill>
            <a:srgbClr val="1A9FD8"/>
          </a:solidFill>
          <a:ln w="12700">
            <a:solidFill>
              <a:srgbClr val="1A9F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0" y="4745736"/>
            <a:ext cx="9144000" cy="27432"/>
          </a:xfrm>
          <a:prstGeom prst="rect">
            <a:avLst/>
          </a:prstGeom>
          <a:solidFill>
            <a:srgbClr val="1A9FD8"/>
          </a:solidFill>
          <a:ln w="12700">
            <a:solidFill>
              <a:srgbClr val="1A9F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4320" y="4754880"/>
            <a:ext cx="4572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0" y="4754880"/>
            <a:ext cx="429768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65760" y="50292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Concepts Demonstrated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365760" y="987552"/>
            <a:ext cx="8412480" cy="22860"/>
          </a:xfrm>
          <a:prstGeom prst="rect">
            <a:avLst/>
          </a:prstGeom>
          <a:solidFill>
            <a:srgbClr val="1A9FD8">
              <a:alpha val="70000"/>
            </a:srgbClr>
          </a:solidFill>
          <a:ln w="12700">
            <a:solidFill>
              <a:srgbClr val="1A9FD8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20040" y="1097280"/>
            <a:ext cx="4206240" cy="1005840"/>
          </a:xfrm>
          <a:prstGeom prst="rect">
            <a:avLst/>
          </a:prstGeom>
          <a:solidFill>
            <a:srgbClr val="021244"/>
          </a:solidFill>
          <a:ln w="12700">
            <a:solidFill>
              <a:srgbClr val="1A9F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20040" y="1097280"/>
            <a:ext cx="54864" cy="1005840"/>
          </a:xfrm>
          <a:prstGeom prst="rect">
            <a:avLst/>
          </a:prstGeom>
          <a:solidFill>
            <a:srgbClr val="1A9FD8"/>
          </a:solidFill>
          <a:ln w="12700">
            <a:solidFill>
              <a:srgbClr val="1A9F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29768" y="1143000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9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14400" y="11887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Integrity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29768" y="1536192"/>
            <a:ext cx="3977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C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SHA-256 hash detects any modification to the file, even a single character change.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754880" y="1097280"/>
            <a:ext cx="4206240" cy="1005840"/>
          </a:xfrm>
          <a:prstGeom prst="rect">
            <a:avLst/>
          </a:prstGeom>
          <a:solidFill>
            <a:srgbClr val="021244"/>
          </a:solidFill>
          <a:ln w="12700">
            <a:solidFill>
              <a:srgbClr val="1A8F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754880" y="1097280"/>
            <a:ext cx="54864" cy="1005840"/>
          </a:xfrm>
          <a:prstGeom prst="rect">
            <a:avLst/>
          </a:prstGeom>
          <a:solidFill>
            <a:srgbClr val="1A8FD8"/>
          </a:solidFill>
          <a:ln w="12700">
            <a:solidFill>
              <a:srgbClr val="1A8F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864608" y="1143000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8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349240" y="11887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 Control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64608" y="1536192"/>
            <a:ext cx="3977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C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Password login ensures only authorized users can access the integrity system.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20040" y="2240280"/>
            <a:ext cx="4206240" cy="1005840"/>
          </a:xfrm>
          <a:prstGeom prst="rect">
            <a:avLst/>
          </a:prstGeom>
          <a:solidFill>
            <a:srgbClr val="021244"/>
          </a:solidFill>
          <a:ln w="12700">
            <a:solidFill>
              <a:srgbClr val="F5C8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320040" y="2240280"/>
            <a:ext cx="54864" cy="1005840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29768" y="2286000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5C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914400" y="23317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 Lockout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29768" y="2679192"/>
            <a:ext cx="3977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C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locks itself after 3 wrong password attempts to prevent brute force attacks.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754880" y="2240280"/>
            <a:ext cx="4206240" cy="1005840"/>
          </a:xfrm>
          <a:prstGeom prst="rect">
            <a:avLst/>
          </a:prstGeom>
          <a:solidFill>
            <a:srgbClr val="021244"/>
          </a:solidFill>
          <a:ln w="12700">
            <a:solidFill>
              <a:srgbClr val="D87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4754880" y="2240280"/>
            <a:ext cx="54864" cy="1005840"/>
          </a:xfrm>
          <a:prstGeom prst="rect">
            <a:avLst/>
          </a:prstGeom>
          <a:solidFill>
            <a:srgbClr val="D87A1A"/>
          </a:solidFill>
          <a:ln w="12700">
            <a:solidFill>
              <a:srgbClr val="D87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864608" y="2286000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87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5349240" y="23317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Logging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864608" y="2679192"/>
            <a:ext cx="3977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C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action is recorded in log.txt with timestamp — creating a full audit trail.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320040" y="3383280"/>
            <a:ext cx="4206240" cy="1005840"/>
          </a:xfrm>
          <a:prstGeom prst="rect">
            <a:avLst/>
          </a:prstGeom>
          <a:solidFill>
            <a:srgbClr val="021244"/>
          </a:solidFill>
          <a:ln w="12700">
            <a:solidFill>
              <a:srgbClr val="D8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320040" y="3383280"/>
            <a:ext cx="54864" cy="1005840"/>
          </a:xfrm>
          <a:prstGeom prst="rect">
            <a:avLst/>
          </a:prstGeom>
          <a:solidFill>
            <a:srgbClr val="D81A1A"/>
          </a:solidFill>
          <a:ln w="12700">
            <a:solidFill>
              <a:srgbClr val="D8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29768" y="3429000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8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914400" y="34747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Tamper Detection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29768" y="3822192"/>
            <a:ext cx="3977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C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Immediately alerts when hash mismatch is found — file has been modified or tampered.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4754880" y="3383280"/>
            <a:ext cx="4206240" cy="1005840"/>
          </a:xfrm>
          <a:prstGeom prst="rect">
            <a:avLst/>
          </a:prstGeom>
          <a:solidFill>
            <a:srgbClr val="021244"/>
          </a:solidFill>
          <a:ln w="12700">
            <a:solidFill>
              <a:srgbClr val="1AD8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4754880" y="3383280"/>
            <a:ext cx="54864" cy="1005840"/>
          </a:xfrm>
          <a:prstGeom prst="rect">
            <a:avLst/>
          </a:prstGeom>
          <a:solidFill>
            <a:srgbClr val="1AD87A"/>
          </a:solidFill>
          <a:ln w="12700">
            <a:solidFill>
              <a:srgbClr val="1AD8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4864608" y="3429000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D8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5349240" y="34747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Avalanche Effect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4864608" y="3822192"/>
            <a:ext cx="3977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C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 1 byte change produces a completely different 64-character hash output.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20E3A"/>
          </a:solidFill>
          <a:ln w="12700">
            <a:solidFill>
              <a:srgbClr val="020E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828800" y="457200"/>
            <a:ext cx="5486400" cy="3657600"/>
          </a:xfrm>
          <a:prstGeom prst="ellipse">
            <a:avLst/>
          </a:prstGeom>
          <a:solidFill>
            <a:srgbClr val="0A2870">
              <a:alpha val="45000"/>
            </a:srgbClr>
          </a:solidFill>
          <a:ln w="12700">
            <a:solidFill>
              <a:srgbClr val="0A287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010C30"/>
          </a:solidFill>
          <a:ln w="12700">
            <a:solidFill>
              <a:srgbClr val="010C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10C30"/>
          </a:solidFill>
          <a:ln w="12700">
            <a:solidFill>
              <a:srgbClr val="010C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0" y="402336"/>
            <a:ext cx="9144000" cy="36576"/>
          </a:xfrm>
          <a:prstGeom prst="rect">
            <a:avLst/>
          </a:prstGeom>
          <a:solidFill>
            <a:srgbClr val="1A9FD8"/>
          </a:solidFill>
          <a:ln w="12700">
            <a:solidFill>
              <a:srgbClr val="1A9F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0" y="4745736"/>
            <a:ext cx="9144000" cy="27432"/>
          </a:xfrm>
          <a:prstGeom prst="rect">
            <a:avLst/>
          </a:prstGeom>
          <a:solidFill>
            <a:srgbClr val="1A9FD8"/>
          </a:solidFill>
          <a:ln w="12700">
            <a:solidFill>
              <a:srgbClr val="1A9F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4320" y="4754880"/>
            <a:ext cx="4572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0" y="4754880"/>
            <a:ext cx="429768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65760" y="50292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Structure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365760" y="987552"/>
            <a:ext cx="8412480" cy="22860"/>
          </a:xfrm>
          <a:prstGeom prst="rect">
            <a:avLst/>
          </a:prstGeom>
          <a:solidFill>
            <a:srgbClr val="1A9FD8">
              <a:alpha val="70000"/>
            </a:srgbClr>
          </a:solidFill>
          <a:ln w="12700">
            <a:solidFill>
              <a:srgbClr val="1A9FD8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65760" y="1097280"/>
            <a:ext cx="3840480" cy="1097280"/>
          </a:xfrm>
          <a:prstGeom prst="rect">
            <a:avLst/>
          </a:prstGeom>
          <a:solidFill>
            <a:srgbClr val="021244"/>
          </a:solidFill>
          <a:ln w="12700">
            <a:solidFill>
              <a:srgbClr val="1A5F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65760" y="1097280"/>
            <a:ext cx="54864" cy="1097280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02920" y="11430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C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Libraries Used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2920" y="1444752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BC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&lt;iostream&gt;  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cin, cout
</a:t>
            </a:r>
            <a:r>
              <a:rPr lang="en-US" sz="1000" b="1" dirty="0">
                <a:solidFill>
                  <a:srgbClr val="5BC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&lt;fstream&gt;   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 / write files
</a:t>
            </a:r>
            <a:r>
              <a:rPr lang="en-US" sz="1000" b="1" dirty="0">
                <a:solidFill>
                  <a:srgbClr val="5BC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&lt;string&gt;    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type
</a:t>
            </a:r>
            <a:r>
              <a:rPr lang="en-US" sz="1000" b="1" dirty="0">
                <a:solidFill>
                  <a:srgbClr val="5BC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&lt;ctime&gt;     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date and time
</a:t>
            </a:r>
            <a:r>
              <a:rPr lang="en-US" sz="1000" b="1" dirty="0">
                <a:solidFill>
                  <a:srgbClr val="5BC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&lt;conio.h&gt;   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hidden password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389120" y="1097280"/>
            <a:ext cx="4389120" cy="1097280"/>
          </a:xfrm>
          <a:prstGeom prst="rect">
            <a:avLst/>
          </a:prstGeom>
          <a:solidFill>
            <a:srgbClr val="021244"/>
          </a:solidFill>
          <a:ln w="12700">
            <a:solidFill>
              <a:srgbClr val="1A5F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389120" y="1097280"/>
            <a:ext cx="54864" cy="1097280"/>
          </a:xfrm>
          <a:prstGeom prst="rect">
            <a:avLst/>
          </a:prstGeom>
          <a:solidFill>
            <a:srgbClr val="1A9FD8"/>
          </a:solidFill>
          <a:ln w="12700">
            <a:solidFill>
              <a:srgbClr val="1A9F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526280" y="105156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BC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Functions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26280" y="1307592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computeSHA256()  →  Manual SHA-256 hash
byteToHex()      →  Byte to hex string
readFile()       →  Binary file read
addFile()        →  Store baseline hash
checkFile()      →  Verify integrity
login()          →  Password control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65760" y="23317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C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 Call Flow: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93192" y="2651760"/>
            <a:ext cx="1115568" cy="384048"/>
          </a:xfrm>
          <a:prstGeom prst="roundRect">
            <a:avLst>
              <a:gd name="adj" fmla="val 9524"/>
            </a:avLst>
          </a:prstGeom>
          <a:solidFill>
            <a:srgbClr val="1A5FAD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85216" y="2633472"/>
            <a:ext cx="713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main()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572768" y="270662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C8F5"/>
                </a:solidFill>
              </a:rPr>
              <a:t>→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020824" y="2633472"/>
            <a:ext cx="722376" cy="384048"/>
          </a:xfrm>
          <a:prstGeom prst="roundRect">
            <a:avLst>
              <a:gd name="adj" fmla="val 9524"/>
            </a:avLst>
          </a:prstGeom>
          <a:solidFill>
            <a:srgbClr val="1A9FD8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1810512" y="2633472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login()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017520" y="2706624"/>
            <a:ext cx="182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C8F5"/>
                </a:solidFill>
              </a:rPr>
              <a:t>→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474720" y="2633472"/>
            <a:ext cx="832104" cy="384048"/>
          </a:xfrm>
          <a:prstGeom prst="roundRect">
            <a:avLst>
              <a:gd name="adj" fmla="val 9524"/>
            </a:avLst>
          </a:prstGeom>
          <a:solidFill>
            <a:srgbClr val="1A8F3A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3255264" y="2633472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addFile()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462272" y="2706624"/>
            <a:ext cx="182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C8F5"/>
                </a:solidFill>
              </a:rPr>
              <a:t>→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846320" y="2633472"/>
            <a:ext cx="996696" cy="384048"/>
          </a:xfrm>
          <a:prstGeom prst="roundRect">
            <a:avLst>
              <a:gd name="adj" fmla="val 9524"/>
            </a:avLst>
          </a:prstGeom>
          <a:solidFill>
            <a:srgbClr val="F5C842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700016" y="2633472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hashFile</a:t>
            </a: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907024" y="2706624"/>
            <a:ext cx="182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C8F5"/>
                </a:solidFill>
              </a:rPr>
              <a:t>→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025896" y="2633472"/>
            <a:ext cx="1325880" cy="384048"/>
          </a:xfrm>
          <a:prstGeom prst="roundRect">
            <a:avLst>
              <a:gd name="adj" fmla="val 9524"/>
            </a:avLst>
          </a:prstGeom>
          <a:solidFill>
            <a:srgbClr val="1A9FD8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144768" y="2633472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computeSHA256()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7351776" y="270662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C8F5"/>
                </a:solidFill>
              </a:rPr>
              <a:t>→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7589520" y="2633472"/>
            <a:ext cx="1325880" cy="384048"/>
          </a:xfrm>
          <a:prstGeom prst="roundRect">
            <a:avLst>
              <a:gd name="adj" fmla="val 9524"/>
            </a:avLst>
          </a:prstGeom>
          <a:solidFill>
            <a:srgbClr val="D87A1A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7589520" y="2633472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checkFile()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365760" y="3154680"/>
            <a:ext cx="8412480" cy="1417320"/>
          </a:xfrm>
          <a:prstGeom prst="rect">
            <a:avLst/>
          </a:prstGeom>
          <a:solidFill>
            <a:srgbClr val="021244"/>
          </a:solidFill>
          <a:ln w="12700">
            <a:solidFill>
              <a:srgbClr val="1A5F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365760" y="3154680"/>
            <a:ext cx="54864" cy="1417320"/>
          </a:xfrm>
          <a:prstGeom prst="rect">
            <a:avLst/>
          </a:prstGeom>
          <a:solidFill>
            <a:srgbClr val="1A8F3A"/>
          </a:solidFill>
          <a:ln w="12700">
            <a:solidFill>
              <a:srgbClr val="1A8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502920" y="32004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D8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File Format  (hash.txt)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02920" y="35204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C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C:\Users\Shanza\Documents\report.pdf | a3f2c1d8e9b7...64chars | 2025-04-19 14:30:00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BC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C:\Users\Shanza\Desktop\notes.txt  | 7b8d2e4f1a9c...64chars | 2025-04-19 15:10:22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20E3A"/>
          </a:solidFill>
          <a:ln w="12700">
            <a:solidFill>
              <a:srgbClr val="020E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828800" y="457200"/>
            <a:ext cx="5486400" cy="3657600"/>
          </a:xfrm>
          <a:prstGeom prst="ellipse">
            <a:avLst/>
          </a:prstGeom>
          <a:solidFill>
            <a:srgbClr val="0A2870">
              <a:alpha val="45000"/>
            </a:srgbClr>
          </a:solidFill>
          <a:ln w="12700">
            <a:solidFill>
              <a:srgbClr val="0A287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010C30"/>
          </a:solidFill>
          <a:ln w="12700">
            <a:solidFill>
              <a:srgbClr val="010C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10C30"/>
          </a:solidFill>
          <a:ln w="12700">
            <a:solidFill>
              <a:srgbClr val="010C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0" y="402336"/>
            <a:ext cx="9144000" cy="36576"/>
          </a:xfrm>
          <a:prstGeom prst="rect">
            <a:avLst/>
          </a:prstGeom>
          <a:solidFill>
            <a:srgbClr val="1A9FD8"/>
          </a:solidFill>
          <a:ln w="12700">
            <a:solidFill>
              <a:srgbClr val="1A9F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0" y="4745736"/>
            <a:ext cx="9144000" cy="27432"/>
          </a:xfrm>
          <a:prstGeom prst="rect">
            <a:avLst/>
          </a:prstGeom>
          <a:solidFill>
            <a:srgbClr val="1A9FD8"/>
          </a:solidFill>
          <a:ln w="12700">
            <a:solidFill>
              <a:srgbClr val="1A9F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5BC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 INTEGRITY CHECKER AND PROTECTION SYSTEM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4320" y="4754880"/>
            <a:ext cx="4572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0" y="4754880"/>
            <a:ext cx="429768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65760" y="50292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 Output — Demo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365760" y="987552"/>
            <a:ext cx="8412480" cy="22860"/>
          </a:xfrm>
          <a:prstGeom prst="rect">
            <a:avLst/>
          </a:prstGeom>
          <a:solidFill>
            <a:srgbClr val="1A9FD8">
              <a:alpha val="70000"/>
            </a:srgbClr>
          </a:solidFill>
          <a:ln w="12700">
            <a:solidFill>
              <a:srgbClr val="1A9FD8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20040" y="1097280"/>
            <a:ext cx="4023360" cy="2011680"/>
          </a:xfrm>
          <a:prstGeom prst="rect">
            <a:avLst/>
          </a:prstGeom>
          <a:solidFill>
            <a:srgbClr val="06060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20040" y="1097280"/>
            <a:ext cx="4023360" cy="274320"/>
          </a:xfrm>
          <a:prstGeom prst="rect">
            <a:avLst/>
          </a:prstGeom>
          <a:solidFill>
            <a:srgbClr val="1C1C1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11480" y="111556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● ● ●   Terminal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11480" y="1417320"/>
            <a:ext cx="38404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FF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Enter Password: ********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FF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[ACCESS GRANTED] Welcome!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FF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Add File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FF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Check File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FF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Exit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FF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Choice: 2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FF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 path: C:\report.pdf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0" y="1097280"/>
            <a:ext cx="4206240" cy="914400"/>
          </a:xfrm>
          <a:prstGeom prst="rect">
            <a:avLst/>
          </a:prstGeom>
          <a:solidFill>
            <a:srgbClr val="06060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572000" y="1097280"/>
            <a:ext cx="4206240" cy="274320"/>
          </a:xfrm>
          <a:prstGeom prst="rect">
            <a:avLst/>
          </a:prstGeom>
          <a:solidFill>
            <a:srgbClr val="1C1C1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663440" y="111556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● ● ●   File SAFE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663440" y="141732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FF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Old Hash: a3f2c1d8...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FF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 Hash: a3f2c1d8...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FF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[OK] File SAFE ✔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0" y="2148840"/>
            <a:ext cx="4206240" cy="960120"/>
          </a:xfrm>
          <a:prstGeom prst="rect">
            <a:avLst/>
          </a:prstGeom>
          <a:solidFill>
            <a:srgbClr val="06060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572000" y="2148840"/>
            <a:ext cx="4206240" cy="274320"/>
          </a:xfrm>
          <a:prstGeom prst="rect">
            <a:avLst/>
          </a:prstGeom>
          <a:solidFill>
            <a:srgbClr val="1C1C1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663440" y="216712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● ● ●   File TAMPERED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663440" y="2468880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Old Hash: a3f2c1d8...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 Hash: 9f1b4c7e...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[ALERT] File MODIFIED! ✘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0040" y="3218688"/>
            <a:ext cx="8458200" cy="1371600"/>
          </a:xfrm>
          <a:prstGeom prst="rect">
            <a:avLst/>
          </a:prstGeom>
          <a:solidFill>
            <a:srgbClr val="06060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320040" y="3218688"/>
            <a:ext cx="8458200" cy="274320"/>
          </a:xfrm>
          <a:prstGeom prst="rect">
            <a:avLst/>
          </a:prstGeom>
          <a:solidFill>
            <a:srgbClr val="1C1C1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11480" y="3236976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● ● ●   activity_log.txt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11480" y="3538728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C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[2025-04-19 14:30:00] : Login Successful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5BC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[2025-04-19 14:31:10] : File Added: C:\report.pdf | Hash: a3f2c1d8e9b7...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5BC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[2025-04-19 14:32:05] : SAFE: C:\report.pdf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5BC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[2025-04-19 14:35:22] : MODIFIED: C:\report.pdf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20E3A"/>
          </a:solidFill>
          <a:ln w="12700">
            <a:solidFill>
              <a:srgbClr val="020E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828800" y="630936"/>
            <a:ext cx="5486400" cy="3657600"/>
          </a:xfrm>
          <a:prstGeom prst="ellipse">
            <a:avLst/>
          </a:prstGeom>
          <a:solidFill>
            <a:srgbClr val="0A2870">
              <a:alpha val="45000"/>
            </a:srgbClr>
          </a:solidFill>
          <a:ln w="12700">
            <a:solidFill>
              <a:srgbClr val="0A287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010C30"/>
          </a:solidFill>
          <a:ln w="12700">
            <a:solidFill>
              <a:srgbClr val="010C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10C30"/>
          </a:solidFill>
          <a:ln w="12700">
            <a:solidFill>
              <a:srgbClr val="010C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0" y="402336"/>
            <a:ext cx="9144000" cy="36576"/>
          </a:xfrm>
          <a:prstGeom prst="rect">
            <a:avLst/>
          </a:prstGeom>
          <a:solidFill>
            <a:srgbClr val="1A9FD8"/>
          </a:solidFill>
          <a:ln w="12700">
            <a:solidFill>
              <a:srgbClr val="1A9F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0" y="4745736"/>
            <a:ext cx="9144000" cy="27432"/>
          </a:xfrm>
          <a:prstGeom prst="rect">
            <a:avLst/>
          </a:prstGeom>
          <a:solidFill>
            <a:srgbClr val="1A9FD8"/>
          </a:solidFill>
          <a:ln w="12700">
            <a:solidFill>
              <a:srgbClr val="1A9F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5BC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 INTEGRITY CHECKER AND PROTECTION SYSTEM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4320" y="4754880"/>
            <a:ext cx="4572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0" y="4754880"/>
            <a:ext cx="429768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3200400" y="987552"/>
            <a:ext cx="2743200" cy="36576"/>
          </a:xfrm>
          <a:prstGeom prst="rect">
            <a:avLst/>
          </a:prstGeom>
          <a:solidFill>
            <a:srgbClr val="1A9FD8"/>
          </a:solidFill>
          <a:ln w="12700">
            <a:solidFill>
              <a:srgbClr val="1A9F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57200" y="1143000"/>
            <a:ext cx="347472" cy="347472"/>
          </a:xfrm>
          <a:prstGeom prst="ellipse">
            <a:avLst/>
          </a:prstGeom>
          <a:solidFill>
            <a:srgbClr val="1A9FD8"/>
          </a:solidFill>
          <a:ln w="12700">
            <a:solidFill>
              <a:srgbClr val="1A9F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57200" y="11430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60120" y="1161288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/>
              <a:t>Ensures file integrity using SHA-256</a:t>
            </a:r>
            <a:r>
              <a:rPr lang="en-US" sz="12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6" name="Shape 14"/>
          <p:cNvSpPr/>
          <p:nvPr/>
        </p:nvSpPr>
        <p:spPr>
          <a:xfrm>
            <a:off x="457200" y="1801368"/>
            <a:ext cx="347472" cy="347472"/>
          </a:xfrm>
          <a:prstGeom prst="ellipse">
            <a:avLst/>
          </a:prstGeom>
          <a:solidFill>
            <a:srgbClr val="1A9FD8"/>
          </a:solidFill>
          <a:ln w="12700">
            <a:solidFill>
              <a:srgbClr val="1A9F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57200" y="18013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60120" y="1819656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Demonstrated core security concepts: Data Integrity, Access Control, Audit Logging and Tamper Detection.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2459736"/>
            <a:ext cx="347472" cy="347472"/>
          </a:xfrm>
          <a:prstGeom prst="ellipse">
            <a:avLst/>
          </a:prstGeom>
          <a:solidFill>
            <a:srgbClr val="1A9FD8"/>
          </a:solidFill>
          <a:ln w="12700">
            <a:solidFill>
              <a:srgbClr val="1A9F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57200" y="24597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60120" y="2478024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Password-based login with 3-attempt lockout prevents unauthorized access to the system.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3118104"/>
            <a:ext cx="347472" cy="347472"/>
          </a:xfrm>
          <a:prstGeom prst="ellipse">
            <a:avLst/>
          </a:prstGeom>
          <a:solidFill>
            <a:srgbClr val="1A9FD8"/>
          </a:solidFill>
          <a:ln w="12700">
            <a:solidFill>
              <a:srgbClr val="1A9F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57200" y="31181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60120" y="313639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Binary file reading ensures the system works on all file types — .txt, .pdf, .docx and more.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" y="3776472"/>
            <a:ext cx="347472" cy="347472"/>
          </a:xfrm>
          <a:prstGeom prst="ellipse">
            <a:avLst/>
          </a:prstGeom>
          <a:solidFill>
            <a:srgbClr val="1A9FD8"/>
          </a:solidFill>
          <a:ln w="12700">
            <a:solidFill>
              <a:srgbClr val="1A9F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57200" y="37764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60120" y="3794760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Activity log maintains a complete audit trail of every action with date and time.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Picture 6" descr="Thank you tech Images - Free Download on Freepik">
            <a:extLst>
              <a:ext uri="{FF2B5EF4-FFF2-40B4-BE49-F238E27FC236}">
                <a16:creationId xmlns:a16="http://schemas.microsoft.com/office/drawing/2014/main" id="{5DEA002C-B44E-8BFE-7D52-7D3FF0DED4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610"/>
            <a:ext cx="9080388" cy="5079890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 contourW="12700">
            <a:contourClr>
              <a:srgbClr val="002060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1914776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">
  <a:themeElements>
    <a:clrScheme name="Slate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3EC26C"/>
      </a:accent1>
      <a:accent2>
        <a:srgbClr val="B3D463"/>
      </a:accent2>
      <a:accent3>
        <a:srgbClr val="3BBC9D"/>
      </a:accent3>
      <a:accent4>
        <a:srgbClr val="97AF75"/>
      </a:accent4>
      <a:accent5>
        <a:srgbClr val="6BA841"/>
      </a:accent5>
      <a:accent6>
        <a:srgbClr val="79AE90"/>
      </a:accent6>
      <a:hlink>
        <a:srgbClr val="85E4A6"/>
      </a:hlink>
      <a:folHlink>
        <a:srgbClr val="BDF3D0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43372978-11FE-4814-AC26-BC300187D8C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TM04033929[[fn=Slate]]</Template>
  <TotalTime>44</TotalTime>
  <Words>1029</Words>
  <Application>Microsoft Office PowerPoint</Application>
  <PresentationFormat>On-screen Show (16:9)</PresentationFormat>
  <Paragraphs>208</Paragraphs>
  <Slides>13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Calisto MT</vt:lpstr>
      <vt:lpstr>Consolas</vt:lpstr>
      <vt:lpstr>Wingdings</vt:lpstr>
      <vt:lpstr>Wingdings 2</vt:lpstr>
      <vt:lpstr>Slate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File Integrity Checker and Protection System</dc:title>
  <dc:subject>PptxGenJS Presentation</dc:subject>
  <dc:creator>PptxGenJS</dc:creator>
  <cp:lastModifiedBy>shanzashafiq20@gmail.com</cp:lastModifiedBy>
  <cp:revision>3</cp:revision>
  <dcterms:created xsi:type="dcterms:W3CDTF">2026-04-19T16:36:28Z</dcterms:created>
  <dcterms:modified xsi:type="dcterms:W3CDTF">2026-04-19T17:35:32Z</dcterms:modified>
</cp:coreProperties>
</file>